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roxima Nova"/>
      <p:regular r:id="rId33"/>
      <p:bold r:id="rId34"/>
      <p:italic r:id="rId35"/>
      <p:boldItalic r:id="rId36"/>
    </p:embeddedFont>
    <p:embeddedFont>
      <p:font typeface="Source Code Pr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jfdl9D0zLAqMTrYJ8gNjUHwAAX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roximaNova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roximaNova-italic.fntdata"/><Relationship Id="rId12" Type="http://schemas.openxmlformats.org/officeDocument/2006/relationships/slide" Target="slides/slide7.xml"/><Relationship Id="rId34" Type="http://schemas.openxmlformats.org/officeDocument/2006/relationships/font" Target="fonts/ProximaNova-bold.fntdata"/><Relationship Id="rId15" Type="http://schemas.openxmlformats.org/officeDocument/2006/relationships/slide" Target="slides/slide10.xml"/><Relationship Id="rId37" Type="http://schemas.openxmlformats.org/officeDocument/2006/relationships/font" Target="fonts/SourceCodePro-regular.fntdata"/><Relationship Id="rId14" Type="http://schemas.openxmlformats.org/officeDocument/2006/relationships/slide" Target="slides/slide9.xml"/><Relationship Id="rId36" Type="http://schemas.openxmlformats.org/officeDocument/2006/relationships/font" Target="fonts/ProximaNova-boldItalic.fntdata"/><Relationship Id="rId17" Type="http://schemas.openxmlformats.org/officeDocument/2006/relationships/slide" Target="slides/slide12.xml"/><Relationship Id="rId39" Type="http://schemas.openxmlformats.org/officeDocument/2006/relationships/font" Target="fonts/SourceCodePro-italic.fntdata"/><Relationship Id="rId16" Type="http://schemas.openxmlformats.org/officeDocument/2006/relationships/slide" Target="slides/slide11.xml"/><Relationship Id="rId38" Type="http://schemas.openxmlformats.org/officeDocument/2006/relationships/font" Target="fonts/SourceCodePr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3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37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7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2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42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2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4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4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3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4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44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b="0" i="0" sz="28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w3schools.com/tags/tag_video.as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w3schools.com/tags/tag_audio.asp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w3schools.com/html/html5_audio.asp" TargetMode="External"/><Relationship Id="rId4" Type="http://schemas.openxmlformats.org/officeDocument/2006/relationships/hyperlink" Target="https://www.w3schools.com/html/html5_video.asp" TargetMode="External"/><Relationship Id="rId5" Type="http://schemas.openxmlformats.org/officeDocument/2006/relationships/hyperlink" Target="https://picsum.photos/" TargetMode="External"/><Relationship Id="rId6" Type="http://schemas.openxmlformats.org/officeDocument/2006/relationships/hyperlink" Target="https://www.w3schools.com/tags/tag_track.asp" TargetMode="External"/><Relationship Id="rId7" Type="http://schemas.openxmlformats.org/officeDocument/2006/relationships/hyperlink" Target="https://www.w3schools.com/html/html_tables.asp" TargetMode="External"/><Relationship Id="rId8" Type="http://schemas.openxmlformats.org/officeDocument/2006/relationships/hyperlink" Target="https://developer.mozilla.org/en-US/docs/Web/HTML/Element/tab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Web Programming</a:t>
            </a:r>
            <a:endParaRPr/>
          </a:p>
        </p:txBody>
      </p:sp>
      <p:sp>
        <p:nvSpPr>
          <p:cNvPr id="60" name="Google Shape;60;p1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HTML - Media Embedding and Table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Multi-Page handling</a:t>
            </a:r>
            <a:endParaRPr/>
          </a:p>
        </p:txBody>
      </p:sp>
      <p:sp>
        <p:nvSpPr>
          <p:cNvPr id="66" name="Google Shape;66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create a multiple pages in the website: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the hyperlinks in file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the file name of the destination page in the 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href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try! Home Page (index.html)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152475"/>
            <a:ext cx="8520600" cy="384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32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32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32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"en"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32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charset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32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"UTF-8"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32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32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"index.html"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&gt;Home&lt;/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32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332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"picture.html"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&gt;Picture&lt;/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Home Page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32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332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lang="en" sz="1332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1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Picture page (picture.html)</a:t>
            </a:r>
            <a:endParaRPr/>
          </a:p>
        </p:txBody>
      </p:sp>
      <p:sp>
        <p:nvSpPr>
          <p:cNvPr id="78" name="Google Shape;78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"index.html"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&gt;Home&lt;/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200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2200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"picture.html"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&gt;Picture&lt;/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nav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Picture Page</a:t>
            </a:r>
            <a:endParaRPr sz="2200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2200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en" sz="2200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3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Imagine</a:t>
            </a:r>
            <a:endParaRPr/>
          </a:p>
        </p:txBody>
      </p:sp>
      <p:sp>
        <p:nvSpPr>
          <p:cNvPr id="84" name="Google Shape;8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are working on a project, the requirements are: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Website must have 2 pages: Home and Picture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 and Picture pages must be connected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Solution: add </a:t>
            </a:r>
            <a:r>
              <a:rPr lang="en" u="sng"/>
              <a:t>navigation</a:t>
            </a:r>
            <a:r>
              <a:rPr lang="en"/>
              <a:t> in each page to go to each 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Result</a:t>
            </a:r>
            <a:endParaRPr/>
          </a:p>
        </p:txBody>
      </p:sp>
      <p:pic>
        <p:nvPicPr>
          <p:cNvPr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392430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1170125"/>
            <a:ext cx="4495800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97" name="Google Shape;97;p7"/>
          <p:cNvSpPr txBox="1"/>
          <p:nvPr>
            <p:ph idx="1" type="body"/>
          </p:nvPr>
        </p:nvSpPr>
        <p:spPr>
          <a:xfrm>
            <a:off x="311700" y="1000075"/>
            <a:ext cx="8520600" cy="3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embed image into HTML page, we could use </a:t>
            </a:r>
            <a:r>
              <a:rPr lang="en">
                <a:solidFill>
                  <a:srgbClr val="0000C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&lt;img&gt;</a:t>
            </a:r>
            <a:r>
              <a:rPr lang="en"/>
              <a:t> tag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Single tag, no need to close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Attributes: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rgbClr val="0000C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src</a:t>
            </a:r>
            <a:r>
              <a:rPr lang="en"/>
              <a:t> : Point the location / source of image</a:t>
            </a:r>
            <a:endParaRPr/>
          </a:p>
          <a:p>
            <a:pPr indent="-3175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>
                <a:solidFill>
                  <a:srgbClr val="0000C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alt</a:t>
            </a:r>
            <a:r>
              <a:rPr lang="en"/>
              <a:t> : If the picture has error, this is shown as text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download an image</a:t>
            </a:r>
            <a:endParaRPr/>
          </a:p>
        </p:txBody>
      </p:sp>
      <p:sp>
        <p:nvSpPr>
          <p:cNvPr id="103" name="Google Shape;10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Method 1 (static image):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Download image (e.g. flower) and give it a name (remember the name)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the image in same folder as HTML file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the image name in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src</a:t>
            </a:r>
            <a:r>
              <a:rPr lang="en"/>
              <a:t> attribute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	Method 2 (online image):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Get online image from URL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the link in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src</a:t>
            </a:r>
            <a:r>
              <a:rPr lang="en"/>
              <a:t> attribute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Try it</a:t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72625" y="1017725"/>
            <a:ext cx="8979600" cy="212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"flower.jpg"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"Flower"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"100"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"100"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"rose.jpg"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"An image of rose"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"https://www.w3schools.com/images/w3schools_green.jpg"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" sz="1800" u="none" cap="none" strike="noStrike">
                <a:solidFill>
                  <a:srgbClr val="A6E22E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alt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800" u="none" cap="none" strike="noStrike">
                <a:solidFill>
                  <a:srgbClr val="E6DB74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"Example of online image"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800" u="none" cap="none" strike="noStrike">
                <a:solidFill>
                  <a:srgbClr val="F9267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" sz="1800" u="none" cap="none" strike="noStrike">
                <a:solidFill>
                  <a:srgbClr val="F8F8F2"/>
                </a:solidFill>
                <a:highlight>
                  <a:srgbClr val="272822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F8F8F2"/>
              </a:solidFill>
              <a:highlight>
                <a:srgbClr val="2728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8550" y="3203075"/>
            <a:ext cx="2083250" cy="174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Relative and Absolute URL</a:t>
            </a:r>
            <a:endParaRPr/>
          </a:p>
        </p:txBody>
      </p:sp>
      <p:sp>
        <p:nvSpPr>
          <p:cNvPr id="116" name="Google Shape;116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Look at the image below</a:t>
            </a:r>
            <a:endParaRPr/>
          </a:p>
        </p:txBody>
      </p:sp>
      <p:pic>
        <p:nvPicPr>
          <p:cNvPr id="117" name="Google Shape;1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550" y="1727200"/>
            <a:ext cx="4095750" cy="22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URL with location “relative” to </a:t>
            </a:r>
            <a:r>
              <a:rPr b="1" lang="en" u="sng"/>
              <a:t>current location</a:t>
            </a:r>
            <a:endParaRPr b="1" u="sng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In </a:t>
            </a:r>
            <a:r>
              <a:rPr b="1" lang="en"/>
              <a:t>index.html</a:t>
            </a:r>
            <a:r>
              <a:rPr lang="en"/>
              <a:t>: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In </a:t>
            </a:r>
            <a:r>
              <a:rPr b="1" lang="en"/>
              <a:t>about.html</a:t>
            </a:r>
            <a:r>
              <a:rPr lang="en"/>
              <a:t>: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Add the content and see what happened</a:t>
            </a:r>
            <a:endParaRPr/>
          </a:p>
        </p:txBody>
      </p:sp>
      <p:sp>
        <p:nvSpPr>
          <p:cNvPr id="123" name="Google Shape;12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Relative URL</a:t>
            </a:r>
            <a:endParaRPr/>
          </a:p>
        </p:txBody>
      </p:sp>
      <p:pic>
        <p:nvPicPr>
          <p:cNvPr id="124" name="Google Shape;12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100" y="1751825"/>
            <a:ext cx="59055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7100" y="3042150"/>
            <a:ext cx="64008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Absolute URL</a:t>
            </a:r>
            <a:endParaRPr/>
          </a:p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	URL with an absolute location, starting </a:t>
            </a:r>
            <a:r>
              <a:rPr b="1" lang="en" u="sng"/>
              <a:t>from the source (usually disk, e.g. C:)</a:t>
            </a:r>
            <a:endParaRPr b="1" u="sng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In </a:t>
            </a:r>
            <a:r>
              <a:rPr b="1" lang="en"/>
              <a:t>index.html</a:t>
            </a:r>
            <a:r>
              <a:rPr lang="en"/>
              <a:t>: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In </a:t>
            </a:r>
            <a:r>
              <a:rPr b="1" lang="en"/>
              <a:t>about.html</a:t>
            </a:r>
            <a:r>
              <a:rPr lang="en"/>
              <a:t>: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2124075"/>
            <a:ext cx="788670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500" y="3450527"/>
            <a:ext cx="9143999" cy="621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image as link</a:t>
            </a:r>
            <a:endParaRPr/>
          </a:p>
        </p:txBody>
      </p:sp>
      <p:sp>
        <p:nvSpPr>
          <p:cNvPr id="139" name="Google Shape;13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It is super simple to use image as link, just put the image tag between anchor tag.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311700" y="1640100"/>
            <a:ext cx="8549100" cy="138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2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600" u="none" cap="none" strike="noStrike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600" u="none" cap="none" strike="noStrike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"https://puis.president.ac.id"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2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img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2600" u="none" cap="none" strike="noStrike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2600" u="none" cap="none" strike="noStrike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"/path/to/image"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b="0" i="0" sz="2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2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" sz="2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3100" u="none" cap="none" strike="noStrike">
              <a:solidFill>
                <a:srgbClr val="000000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Video</a:t>
            </a:r>
            <a:endParaRPr/>
          </a:p>
        </p:txBody>
      </p:sp>
      <p:sp>
        <p:nvSpPr>
          <p:cNvPr id="146" name="Google Shape;14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add a video in HTML: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&lt;video&gt;</a:t>
            </a:r>
            <a:r>
              <a:rPr lang="en"/>
              <a:t> tag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&lt;source&gt;</a:t>
            </a:r>
            <a:r>
              <a:rPr lang="en"/>
              <a:t> tag inside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&lt;video&gt;</a:t>
            </a:r>
            <a:r>
              <a:rPr lang="en"/>
              <a:t>.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Attributes: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autoplay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controls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preload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width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height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Check: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https://www.w3schools.com/tags/tag_video.asp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Video Example</a:t>
            </a:r>
            <a:endParaRPr/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4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video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"320"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"240"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controls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autoplay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4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 sz="1400">
              <a:solidFill>
                <a:srgbClr val="F9267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"https://storage.googleapis.com/gtv-videos-bucket/sample/BigBuckBunny.mp4"</a:t>
            </a:r>
            <a:endParaRPr sz="1400">
              <a:solidFill>
                <a:srgbClr val="E6DB7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4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4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"video/mp4"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sz="14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Not supported</a:t>
            </a:r>
            <a:endParaRPr sz="14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&lt;/</a:t>
            </a:r>
            <a:r>
              <a:rPr lang="en" sz="14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video</a:t>
            </a: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4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965">
              <a:highlight>
                <a:schemeClr val="dk1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Audio</a:t>
            </a:r>
            <a:endParaRPr/>
          </a:p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add an audio in HTML page: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&lt;audio&gt;</a:t>
            </a:r>
            <a:r>
              <a:rPr lang="en"/>
              <a:t> tag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&lt;source&gt;</a:t>
            </a:r>
            <a:r>
              <a:rPr lang="en"/>
              <a:t> tag inside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&lt;audio&gt;</a:t>
            </a:r>
            <a:r>
              <a:rPr lang="en"/>
              <a:t> tag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Attributes: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autoplay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controls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preload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Check: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https://www.w3schools.com/tags/tag_audio.asp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Audio Example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7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audio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controls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autoplay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7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7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 sz="1700">
              <a:solidFill>
                <a:srgbClr val="F9267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7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7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"http://www.sousound.com/music/healing/healing_01.mp3"</a:t>
            </a:r>
            <a:endParaRPr sz="1700">
              <a:solidFill>
                <a:srgbClr val="E6DB74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700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700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"audio/mp3"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/&gt; </a:t>
            </a:r>
            <a:endParaRPr sz="17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7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audio</a:t>
            </a:r>
            <a:r>
              <a:rPr lang="en" sz="17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endParaRPr sz="17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Important! Before we continue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Best practice: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add </a:t>
            </a:r>
            <a:r>
              <a:rPr b="1"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</a:t>
            </a:r>
            <a:r>
              <a:rPr lang="en"/>
              <a:t> and/or </a:t>
            </a:r>
            <a:r>
              <a:rPr b="1"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r>
              <a:rPr lang="en"/>
              <a:t> as attribute in HTML tags especially if we want to </a:t>
            </a:r>
            <a:r>
              <a:rPr lang="en" u="sng"/>
              <a:t>differentiate</a:t>
            </a:r>
            <a:r>
              <a:rPr lang="en"/>
              <a:t> them.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As an example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We will see the benefits of using this later ;)</a:t>
            </a:r>
            <a:endParaRPr/>
          </a:p>
        </p:txBody>
      </p:sp>
      <p:pic>
        <p:nvPicPr>
          <p:cNvPr id="171" name="Google Shape;17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2876550"/>
            <a:ext cx="779145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Table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311700" y="542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create table in HTML use: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&lt;table&gt;</a:t>
            </a:r>
            <a:r>
              <a:rPr lang="en"/>
              <a:t>,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&lt;tr&gt;</a:t>
            </a:r>
            <a:r>
              <a:rPr lang="en"/>
              <a:t>,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&lt;td&gt;</a:t>
            </a:r>
            <a:r>
              <a:rPr lang="en"/>
              <a:t>,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&lt;th&gt;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8" name="Google Shape;178;p24"/>
          <p:cNvSpPr txBox="1"/>
          <p:nvPr/>
        </p:nvSpPr>
        <p:spPr>
          <a:xfrm>
            <a:off x="411600" y="1657275"/>
            <a:ext cx="3647400" cy="33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1&lt;/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2&lt;/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3&lt;/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4&lt;/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5&lt;/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1&lt;/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2&lt;/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3&lt;/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4&lt;/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5&lt;/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3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3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3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800" u="none" cap="none" strike="noStrike">
              <a:solidFill>
                <a:srgbClr val="000000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7750" y="2311325"/>
            <a:ext cx="4934625" cy="84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Table with header</a:t>
            </a:r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468600" y="607450"/>
            <a:ext cx="3647400" cy="412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1&lt;/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2&lt;/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3&lt;/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4&lt;/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&gt;Header 5&lt;/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1&lt;/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2&lt;/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3&lt;/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4&lt;/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5&lt;/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6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6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6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100" u="none" cap="none" strike="noStrike">
              <a:solidFill>
                <a:srgbClr val="000000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6" name="Google Shape;18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000" y="1847850"/>
            <a:ext cx="4932751" cy="797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Alternatives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311700" y="636725"/>
            <a:ext cx="8520600" cy="3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Table semantics in HTML: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&lt;thead&gt;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&lt;tbody&gt;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Font typeface="Source Code Pro"/>
              <a:buChar char="-"/>
            </a:pP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&lt;tfoot&gt;</a:t>
            </a:r>
            <a:endParaRPr>
              <a:solidFill>
                <a:srgbClr val="3C78D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Using these tags, if the table is long, then the header and footer will be printed on the next pages.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11700" y="25875"/>
            <a:ext cx="8520600" cy="497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thead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&gt;Student ID&lt;/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&gt;Student Name&lt;/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&gt;Major&lt;/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&gt;Score&lt;/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thead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tbody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&gt;001202200001&lt;/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&gt;John Doe&lt;/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&gt;Informatics&lt;/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&gt;90&lt;/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&gt;001202200002&lt;/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&gt;Jane Doe&lt;/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&gt;Informatics&lt;/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&gt;80&lt;/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tbody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tfoot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&gt;Sum&lt;/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&lt;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&gt;170&lt;/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tfoot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en" sz="1100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" sz="1100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2000">
              <a:highlight>
                <a:schemeClr val="dk1"/>
              </a:highlight>
            </a:endParaRPr>
          </a:p>
        </p:txBody>
      </p:sp>
      <p:pic>
        <p:nvPicPr>
          <p:cNvPr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4025" y="25875"/>
            <a:ext cx="5533351" cy="18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Where’s the border?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Border by default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&lt;style&gt;</a:t>
            </a:r>
            <a:r>
              <a:rPr lang="en"/>
              <a:t> tag to give border (sneak peek to CSS)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 the code below </a:t>
            </a:r>
            <a:r>
              <a:rPr lang="en" u="sng"/>
              <a:t>inside</a:t>
            </a:r>
            <a:r>
              <a:rPr lang="en"/>
              <a:t>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&lt;head&gt;</a:t>
            </a:r>
            <a:r>
              <a:rPr lang="en"/>
              <a:t> tag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2417250" y="2191075"/>
            <a:ext cx="4157100" cy="133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5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0" i="0" sz="15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1" lang="en" sz="1500" u="none" cap="none" strike="noStrike">
                <a:solidFill>
                  <a:srgbClr val="66D9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" sz="1500" u="none" cap="none" strike="noStrike">
                <a:solidFill>
                  <a:srgbClr val="AE81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px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solid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500" u="none" cap="none" strike="noStrike">
                <a:solidFill>
                  <a:srgbClr val="66D9E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black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0" i="0" sz="15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5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" sz="15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2000" u="none" cap="none" strike="noStrike">
              <a:solidFill>
                <a:srgbClr val="000000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63" y="3719126"/>
            <a:ext cx="8181475" cy="13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Merging cells</a:t>
            </a:r>
            <a:endParaRPr/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311700" y="542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colspan</a:t>
            </a:r>
            <a:r>
              <a:rPr lang="en"/>
              <a:t> or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rowspan</a:t>
            </a:r>
            <a:r>
              <a:rPr lang="en"/>
              <a:t> attributes with the length or range to merge in numbers</a:t>
            </a:r>
            <a:endParaRPr/>
          </a:p>
        </p:txBody>
      </p:sp>
      <p:sp>
        <p:nvSpPr>
          <p:cNvPr id="213" name="Google Shape;213;p28"/>
          <p:cNvSpPr txBox="1"/>
          <p:nvPr/>
        </p:nvSpPr>
        <p:spPr>
          <a:xfrm>
            <a:off x="311700" y="973525"/>
            <a:ext cx="5379900" cy="2770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rowspan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200" u="none" cap="none" strike="noStrike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 and Row 2: Col 1&lt;/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" sz="1200" u="none" cap="none" strike="noStrike">
                <a:solidFill>
                  <a:srgbClr val="A6E22E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colspan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" sz="1200" u="none" cap="none" strike="noStrike">
                <a:solidFill>
                  <a:srgbClr val="E6DB74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2 and 3&lt;/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4&lt;/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1: Col 5&lt;/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2&lt;/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3&lt;/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4&lt;/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    &lt;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&gt;Row 2: Col 5&lt;/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td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   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tr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200" u="none" cap="none" strike="noStrike">
              <a:solidFill>
                <a:srgbClr val="F8F8F2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0" i="0" lang="en" sz="1200" u="none" cap="none" strike="noStrike">
                <a:solidFill>
                  <a:srgbClr val="F9267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b="0" i="0" lang="en" sz="1200" u="none" cap="none" strike="noStrike">
                <a:solidFill>
                  <a:srgbClr val="F8F8F2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700" u="none" cap="none" strike="noStrike">
              <a:solidFill>
                <a:srgbClr val="000000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850" y="3725200"/>
            <a:ext cx="4753200" cy="9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 sneak peek to CSS</a:t>
            </a:r>
            <a:endParaRPr/>
          </a:p>
        </p:txBody>
      </p:sp>
      <p:sp>
        <p:nvSpPr>
          <p:cNvPr id="220" name="Google Shape;220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Notice we could add border using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&lt;style&gt;</a:t>
            </a:r>
            <a:r>
              <a:rPr lang="en"/>
              <a:t>, put inside the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&lt;head&gt;</a:t>
            </a:r>
            <a:r>
              <a:rPr lang="en"/>
              <a:t> tag</a:t>
            </a:r>
            <a:endParaRPr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Other ways to add style is by using attribute </a:t>
            </a:r>
            <a:r>
              <a:rPr lang="en">
                <a:solidFill>
                  <a:srgbClr val="3C78D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style</a:t>
            </a:r>
            <a:r>
              <a:rPr lang="en"/>
              <a:t> in the HTML tags and using separate files (we’ll talk about it in the future)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Create the script for this table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the colspan correctly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Define the rowspan correctly</a:t>
            </a:r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0750" y="1152475"/>
            <a:ext cx="413385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https://www.w3schools.com/html/html5_audio.asp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https://www.w3schools.com/html/html5_video.asp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https://picsum.photos/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https://www.w3schools.com/tags/tag_track.asp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https://www.w3schools.com/html/html_tables.asp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https://developer.mozilla.org/en-US/docs/Web/HTML/Element/table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