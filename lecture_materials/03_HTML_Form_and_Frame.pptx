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Proxima Nova"/>
      <p:regular r:id="rId44"/>
      <p:bold r:id="rId45"/>
      <p:italic r:id="rId46"/>
      <p:boldItalic r:id="rId47"/>
    </p:embeddedFont>
    <p:embeddedFont>
      <p:font typeface="Source Code Pr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igvwXOIq7i663oVHbG1mWSdH3R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ProximaNova-regular.fntdata"/><Relationship Id="rId43" Type="http://schemas.openxmlformats.org/officeDocument/2006/relationships/slide" Target="slides/slide38.xml"/><Relationship Id="rId46" Type="http://schemas.openxmlformats.org/officeDocument/2006/relationships/font" Target="fonts/ProximaNova-italic.fntdata"/><Relationship Id="rId45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urceCodePro-regular.fntdata"/><Relationship Id="rId47" Type="http://schemas.openxmlformats.org/officeDocument/2006/relationships/font" Target="fonts/ProximaNova-boldItalic.fntdata"/><Relationship Id="rId49" Type="http://schemas.openxmlformats.org/officeDocument/2006/relationships/font" Target="fonts/SourceCode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SourceCodePro-boldItalic.fntdata"/><Relationship Id="rId50" Type="http://schemas.openxmlformats.org/officeDocument/2006/relationships/font" Target="fonts/SourceCodePro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a62c69c8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8a62c69c8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a62c69c8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8a62c69c8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4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4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4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9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0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5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50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50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5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1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2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52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john@test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w3schools.com/html/html_form_elements.asp" TargetMode="External"/><Relationship Id="rId4" Type="http://schemas.openxmlformats.org/officeDocument/2006/relationships/hyperlink" Target="https://www.w3schools.com/html/html_form_input_types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Web Programming</a:t>
            </a:r>
            <a:endParaRPr/>
          </a:p>
        </p:txBody>
      </p:sp>
      <p:sp>
        <p:nvSpPr>
          <p:cNvPr id="60" name="Google Shape;60;p1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Form and Frame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a form?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Form is a media to accept user inputs and send the process to server to be processed.</a:t>
            </a:r>
            <a:endParaRPr/>
          </a:p>
        </p:txBody>
      </p:sp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9100" y="1902638"/>
            <a:ext cx="3448050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Form</a:t>
            </a:r>
            <a:endParaRPr/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&lt;form&gt;&lt;/form&gt;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Is used as the base to contain the user inputs.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 form will have variety of inputs, boxes, buttons, etc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Tag: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&lt;input /&gt;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Types of input: text, number, date, checkbox, etc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give value, use attribute “value”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Note: It is a good practice to add id and name in out input tag like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"fname"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"fname"</a:t>
            </a:r>
            <a:r>
              <a:rPr lang="en" sz="220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220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8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220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E5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220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220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E5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220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"fname"</a:t>
            </a:r>
            <a:r>
              <a:rPr lang="en" sz="220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E5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220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"fname"</a:t>
            </a:r>
            <a:endParaRPr sz="2200">
              <a:solidFill>
                <a:srgbClr val="0000F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2200">
                <a:solidFill>
                  <a:srgbClr val="E5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"John Doe"</a:t>
            </a:r>
            <a:r>
              <a:rPr lang="en" sz="2200">
                <a:solidFill>
                  <a:srgbClr val="8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220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Label</a:t>
            </a:r>
            <a:endParaRPr/>
          </a:p>
        </p:txBody>
      </p:sp>
      <p:sp>
        <p:nvSpPr>
          <p:cNvPr id="85" name="Google Shape;85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Label is a description of an input.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label will help user in identifying which input is currently in process.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“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"/>
              <a:t>” attribute containing the “id” of the input.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Example: the “label” is for input with id “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fname</a:t>
            </a:r>
            <a:r>
              <a:rPr lang="en"/>
              <a:t>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"fname"</a:t>
            </a:r>
            <a:r>
              <a:rPr lang="en" sz="220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First name:</a:t>
            </a:r>
            <a:r>
              <a:rPr lang="en" sz="220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&lt;/label&gt;&lt;br/&gt;</a:t>
            </a:r>
            <a:endParaRPr sz="220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"fname"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"fname"</a:t>
            </a:r>
            <a:r>
              <a:rPr lang="en" sz="220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220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8500" y="532075"/>
            <a:ext cx="38862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Button</a:t>
            </a:r>
            <a:endParaRPr/>
          </a:p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 button is something that is clickable for our user. It is usually used as confirmation about an action, or when we want to trigger something in our form. To create a button we have two ways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Using </a:t>
            </a:r>
            <a:r>
              <a:rPr lang="en" sz="2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2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2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2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en" sz="2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"Click Me"</a:t>
            </a:r>
            <a:r>
              <a:rPr lang="en" sz="2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2900"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Using </a:t>
            </a:r>
            <a:r>
              <a:rPr lang="en" sz="2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2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en" sz="2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&gt;Click Me&lt;/</a:t>
            </a:r>
            <a:r>
              <a:rPr lang="en" sz="2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en" sz="2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900"/>
          </a:p>
        </p:txBody>
      </p:sp>
      <p:pic>
        <p:nvPicPr>
          <p:cNvPr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975" y="3311575"/>
            <a:ext cx="289560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Button Types</a:t>
            </a:r>
            <a:endParaRPr/>
          </a:p>
        </p:txBody>
      </p:sp>
      <p:sp>
        <p:nvSpPr>
          <p:cNvPr id="99" name="Google Shape;99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We have two different main button types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button</a:t>
            </a:r>
            <a:r>
              <a:rPr lang="en"/>
              <a:t>: the usual button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submit</a:t>
            </a:r>
            <a:r>
              <a:rPr lang="en"/>
              <a:t>: same with input type submit and will call the form*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Let’s Try input types and add some values ;)</a:t>
            </a:r>
            <a:endParaRPr/>
          </a:p>
        </p:txBody>
      </p:sp>
      <p:sp>
        <p:nvSpPr>
          <p:cNvPr id="105" name="Google Shape;105;p8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Date: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"date"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"myDate"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"myDate"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Email: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"email"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"myEmail"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"myEmail"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Tel: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"tel"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"myTel"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"myTel"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File: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"file"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"myFile"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"myFile"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Password: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"password"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"myPass"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"myPass"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Number: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"number"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"myNumber"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"myNumber"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Range: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"range"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"myRange"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"myRange"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Hidden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"hidden"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"myHidden"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"myHidden"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With values</a:t>
            </a:r>
            <a:endParaRPr/>
          </a:p>
        </p:txBody>
      </p:sp>
      <p:sp>
        <p:nvSpPr>
          <p:cNvPr id="111" name="Google Shape;111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Date: 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"date"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"myDate"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"myDate"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"2023-02-14"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 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Email: 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"email"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"myEmail"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"myEmail"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400" u="sng">
                <a:solidFill>
                  <a:schemeClr val="hlink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john@test.com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Tel: 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"tel"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"myTel"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"myTel"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"+62 85484447"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File: 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"file"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"myFile"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"myFile"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Password: 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"password"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"myPass"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"myPass"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"secret"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Number: 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"number"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"myNumber"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"myNumber"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"13"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Range: 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"range"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"myRange"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"myRange"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"10"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Hidden 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"hidden"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"myHidden"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"myHidden"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"secret"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/&gt; </a:t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4188500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3300" y="152400"/>
            <a:ext cx="40522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Input Attributes</a:t>
            </a:r>
            <a:endParaRPr/>
          </a:p>
        </p:txBody>
      </p:sp>
      <p:sp>
        <p:nvSpPr>
          <p:cNvPr id="123" name="Google Shape;123;p11"/>
          <p:cNvSpPr txBox="1"/>
          <p:nvPr>
            <p:ph idx="1" type="body"/>
          </p:nvPr>
        </p:nvSpPr>
        <p:spPr>
          <a:xfrm>
            <a:off x="0" y="574425"/>
            <a:ext cx="9144000" cy="39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Username: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"username"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"username"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"John"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"20"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Nickname: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"nickname"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"nickname"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autofocus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StudentID: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"studentId"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"studentId"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"001"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readonly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Major: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"major"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"major"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"IT"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disabled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Hobby: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"hobby"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"hobby"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"Sing"</a:t>
            </a:r>
            <a:endParaRPr sz="13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maxlength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"20"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required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Rate: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"number"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"rate"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"rate"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"1"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"5"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"submit"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"Submit Form"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76200"/>
            <a:ext cx="4856075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4675" y="152400"/>
            <a:ext cx="3906925" cy="4003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011818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Radio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0" y="1195100"/>
            <a:ext cx="9144000" cy="272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&gt;Choose your favorite Web language:&lt;/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"radio"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"html"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"fav_language"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"HTML"/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"html"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&gt;HTML&lt;/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br/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"radio"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"css"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"fav_language"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"CSS"/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"css"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&gt;CSS&lt;/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br/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"radio"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"javascript"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"fav_language"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"JavaScript"/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"javascript"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&gt;JavaScript&lt;/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1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8" cy="3797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CheckBox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311700" y="1152475"/>
            <a:ext cx="85206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Different from radio, checkbox provides separate values that user could choose as she/he would like to,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2625" y="2322175"/>
            <a:ext cx="8953200" cy="130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14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"checkbox"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"toppingA"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"topping"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"Peanut"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 Peanut</a:t>
            </a:r>
            <a:endParaRPr sz="14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14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"checkbox"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"toppingB"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"topping"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"Cookies"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 Cookies</a:t>
            </a:r>
            <a:endParaRPr sz="14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14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"checkbox"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"toppingC"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"topping"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5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5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"Almond"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 Almond</a:t>
            </a:r>
            <a:endParaRPr sz="14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14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en" sz="14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925" y="335975"/>
            <a:ext cx="5783426" cy="7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Notes on radio and checkbox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 make sure that our radio buttons provide different choices, we </a:t>
            </a:r>
            <a:r>
              <a:rPr b="1" lang="en"/>
              <a:t>MUST give the same name</a:t>
            </a:r>
            <a:r>
              <a:rPr lang="en"/>
              <a:t>, and different id value. The same applies to checkboxes too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Try to change the name into different names for each and see what happens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08525" y="570475"/>
            <a:ext cx="8723700" cy="250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1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1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&gt;Choose a car:&lt;/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15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1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1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1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1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15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1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1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"volvo"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&gt;Volvo&lt;/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15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1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1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"toyota"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&gt;Toyota&lt;/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15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1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1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"fiat"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&gt;Fiat&lt;/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15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1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1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"audi"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&gt;Audi&lt;/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15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21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" sz="21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5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8775" y="3081525"/>
            <a:ext cx="3319204" cy="17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Auto Select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311700" y="1152475"/>
            <a:ext cx="8520600" cy="25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&gt;Choose a car:&lt;/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"volvo"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&gt;Volvo&lt;/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"toyota"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selected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&gt;Toyota&lt;/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"fiat"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&gt;Fiat&lt;/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"audi"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&gt;Audi&lt;/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34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0625" y="45550"/>
            <a:ext cx="4178400" cy="102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Multiple Select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40025" y="560525"/>
            <a:ext cx="8766900" cy="297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&gt;Choose cars:&lt;/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multiple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"volvo"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&gt;Volvo&lt;/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"toyota"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&gt;Toyota&lt;/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"fiat"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&gt;Fiat&lt;/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6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6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"audi"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&gt;Audi&lt;/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6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26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26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3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609600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Optgroup</a:t>
            </a:r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&gt;Choose a car:&lt;/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"cars"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optgroup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"Japan Cars"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"toyota"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&gt;Toyota&lt;/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"honda"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&gt;Honda&lt;/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optgroup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optgroup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"German Cars"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"mercedes"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&gt;Mercedes&lt;/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"bmw"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&gt;BMW&lt;/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optgroup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00888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Textarea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43500" y="963000"/>
            <a:ext cx="9068100" cy="137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"web_programming"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&gt;How Web Programming is:&lt;/</a:t>
            </a:r>
            <a:r>
              <a:rPr b="0" i="0" lang="en" sz="15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5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textarea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"web_programming"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"web_programming"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rows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"4"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5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cols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5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"50"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5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Learn web programming they say, it will be fun they say.</a:t>
            </a:r>
            <a:endParaRPr b="0" i="0" sz="155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55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textarea</a:t>
            </a:r>
            <a:r>
              <a:rPr b="0" i="0" lang="en" sz="155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493000"/>
            <a:ext cx="8839204" cy="1264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Datalist</a:t>
            </a:r>
            <a:endParaRPr/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311700" y="673475"/>
            <a:ext cx="8520600" cy="3895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"browsers"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"browser"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datalist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"browsers"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"Internet Explorer"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"Firefox"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"Chrome"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"Opera"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"Safari"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datalist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"submit"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"Find Browser"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3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2250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Frame and Frameset</a:t>
            </a:r>
            <a:endParaRPr/>
          </a:p>
        </p:txBody>
      </p:sp>
      <p:sp>
        <p:nvSpPr>
          <p:cNvPr id="219" name="Google Shape;21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Deprecated in HTML5, but still fun to use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to embed another html page inside a page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Frame could be nested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add frame and frameset, need to remove some part of the html tags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a62c69c84_0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Iframe</a:t>
            </a:r>
            <a:endParaRPr/>
          </a:p>
        </p:txBody>
      </p:sp>
      <p:sp>
        <p:nvSpPr>
          <p:cNvPr id="225" name="Google Shape;225;g38a62c69c84_0_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in HTML5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embed external pages or video sources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Example: YouTube videos will have the unique identifier</a:t>
            </a:r>
            <a:endParaRPr/>
          </a:p>
        </p:txBody>
      </p:sp>
      <p:pic>
        <p:nvPicPr>
          <p:cNvPr id="226" name="Google Shape;226;g38a62c69c84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75" y="2405901"/>
            <a:ext cx="7256375" cy="15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8a62c69c84_0_1"/>
          <p:cNvSpPr/>
          <p:nvPr/>
        </p:nvSpPr>
        <p:spPr>
          <a:xfrm>
            <a:off x="4360825" y="2449625"/>
            <a:ext cx="1211700" cy="310200"/>
          </a:xfrm>
          <a:prstGeom prst="ellipse">
            <a:avLst/>
          </a:prstGeom>
          <a:noFill/>
          <a:ln cap="flat" cmpd="sng" w="28575">
            <a:solidFill>
              <a:srgbClr val="E5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a62c69c84_0_8"/>
          <p:cNvSpPr txBox="1"/>
          <p:nvPr>
            <p:ph type="title"/>
          </p:nvPr>
        </p:nvSpPr>
        <p:spPr>
          <a:xfrm>
            <a:off x="311700" y="4694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Iframe</a:t>
            </a:r>
            <a:endParaRPr/>
          </a:p>
        </p:txBody>
      </p:sp>
      <p:sp>
        <p:nvSpPr>
          <p:cNvPr id="233" name="Google Shape;233;g38a62c69c84_0_8"/>
          <p:cNvSpPr txBox="1"/>
          <p:nvPr>
            <p:ph idx="1" type="body"/>
          </p:nvPr>
        </p:nvSpPr>
        <p:spPr>
          <a:xfrm>
            <a:off x="311700" y="1017725"/>
            <a:ext cx="8520600" cy="155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Here is a video:&lt;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br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/&gt;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iframe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width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"560"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height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"315"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src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"https://www.youtube.com/embed/LDU_Txk06tM?si=ibl1Qgu0rBislyKr"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title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"YouTube video player"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frameborder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"0"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allow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"accelerometer; autoplay; clipboard-write; encrypted-media; gyroscope; picture-in-picture; web-share"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referrerpolicy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"strict-origin-when-cross-origin"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allowfullscreen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&gt;&lt;/</a:t>
            </a:r>
            <a:r>
              <a:rPr lang="en" sz="1400">
                <a:solidFill>
                  <a:srgbClr val="F9267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iframe</a:t>
            </a:r>
            <a:r>
              <a:rPr lang="en" sz="1400">
                <a:solidFill>
                  <a:srgbClr val="F8F8F2"/>
                </a:solidFill>
                <a:highlight>
                  <a:srgbClr val="272822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endParaRPr sz="1400">
              <a:solidFill>
                <a:srgbClr val="F8F8F2"/>
              </a:solidFill>
              <a:highlight>
                <a:srgbClr val="272822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34" name="Google Shape;234;g38a62c69c84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75" y="2584425"/>
            <a:ext cx="2981118" cy="238902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8a62c69c84_0_8"/>
          <p:cNvSpPr txBox="1"/>
          <p:nvPr/>
        </p:nvSpPr>
        <p:spPr>
          <a:xfrm>
            <a:off x="5163225" y="3317300"/>
            <a:ext cx="361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Note: This will not work in normal situation due to updates in YouTube policy, but the idea is the same</a:t>
            </a:r>
            <a:endParaRPr b="0" i="0" sz="1800" u="none" cap="none" strike="noStrike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1023050" y="50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Create these files in one folder:</a:t>
            </a:r>
            <a:endParaRPr/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623400" y="11404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Master page (with frame):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index.html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Navigation: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nav.html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Home page</a:t>
            </a:r>
            <a:r>
              <a:rPr b="1" lang="en">
                <a:solidFill>
                  <a:srgbClr val="E50000"/>
                </a:solidFill>
              </a:rPr>
              <a:t>*</a:t>
            </a:r>
            <a:r>
              <a:rPr lang="en"/>
              <a:t>: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main.html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Form page</a:t>
            </a:r>
            <a:r>
              <a:rPr b="1" lang="en">
                <a:solidFill>
                  <a:srgbClr val="FF0000"/>
                </a:solidFill>
              </a:rPr>
              <a:t>*</a:t>
            </a:r>
            <a:r>
              <a:rPr lang="en"/>
              <a:t>: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form.html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About page</a:t>
            </a:r>
            <a:r>
              <a:rPr b="1" lang="en">
                <a:solidFill>
                  <a:srgbClr val="FF0000"/>
                </a:solidFill>
              </a:rPr>
              <a:t>*</a:t>
            </a:r>
            <a:r>
              <a:rPr lang="en"/>
              <a:t>: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about.html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Info page</a:t>
            </a:r>
            <a:r>
              <a:rPr b="1" lang="en">
                <a:solidFill>
                  <a:srgbClr val="E50000"/>
                </a:solidFill>
              </a:rPr>
              <a:t>*</a:t>
            </a:r>
            <a:r>
              <a:rPr lang="en"/>
              <a:t>: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info.html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rgbClr val="FF0000"/>
                </a:solidFill>
              </a:rPr>
              <a:t>*</a:t>
            </a:r>
            <a:r>
              <a:rPr lang="en" u="sng"/>
              <a:t>Just put anything inside, do not need to ask</a:t>
            </a:r>
            <a:r>
              <a:rPr lang="en"/>
              <a:t> :)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index.html</a:t>
            </a:r>
            <a:endParaRPr/>
          </a:p>
        </p:txBody>
      </p:sp>
      <p:sp>
        <p:nvSpPr>
          <p:cNvPr id="247" name="Google Shape;24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2200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frameset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cols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"110,*"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2200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"leftframe"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"nav.html"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2200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"main"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"main.html"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2200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noframes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Not Supported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" sz="2200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noframes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2200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frameset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3100"/>
          </a:p>
        </p:txBody>
      </p:sp>
      <p:sp>
        <p:nvSpPr>
          <p:cNvPr id="248" name="Google Shape;248;p31"/>
          <p:cNvSpPr txBox="1"/>
          <p:nvPr/>
        </p:nvSpPr>
        <p:spPr>
          <a:xfrm>
            <a:off x="4572000" y="505275"/>
            <a:ext cx="28194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Use cols to create set of frames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110 means use 110 pixels first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* means use the rest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5661975" y="3047850"/>
            <a:ext cx="30006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Add 2 frames with unique name, and add the source to load the HTML. Keep an eye on the </a:t>
            </a:r>
            <a:r>
              <a:rPr b="1" i="0" lang="en" sz="1400" u="sng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name</a:t>
            </a:r>
            <a:endParaRPr b="1" i="0" sz="1400" u="sng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50" name="Google Shape;250;p31"/>
          <p:cNvCxnSpPr/>
          <p:nvPr/>
        </p:nvCxnSpPr>
        <p:spPr>
          <a:xfrm rot="10800000">
            <a:off x="7058325" y="2244950"/>
            <a:ext cx="132000" cy="81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31"/>
          <p:cNvSpPr txBox="1"/>
          <p:nvPr/>
        </p:nvSpPr>
        <p:spPr>
          <a:xfrm>
            <a:off x="2598850" y="3737575"/>
            <a:ext cx="3000600" cy="61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If your browser does not support frames, show noframes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52" name="Google Shape;252;p31"/>
          <p:cNvCxnSpPr>
            <a:stCxn id="251" idx="0"/>
          </p:cNvCxnSpPr>
          <p:nvPr/>
        </p:nvCxnSpPr>
        <p:spPr>
          <a:xfrm rot="10800000">
            <a:off x="3624850" y="3024175"/>
            <a:ext cx="474300" cy="713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nav.html</a:t>
            </a:r>
            <a:endParaRPr/>
          </a:p>
        </p:txBody>
      </p:sp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"main.html"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"main"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&gt;Main Page&lt;/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"form.html"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"main"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&gt;Form&lt;/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"about.html"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"main"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&gt;About&lt;/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/&gt;&lt;</a:t>
            </a:r>
            <a:r>
              <a:rPr lang="en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2700"/>
          </a:p>
        </p:txBody>
      </p:sp>
      <p:sp>
        <p:nvSpPr>
          <p:cNvPr id="259" name="Google Shape;259;p32"/>
          <p:cNvSpPr txBox="1"/>
          <p:nvPr/>
        </p:nvSpPr>
        <p:spPr>
          <a:xfrm>
            <a:off x="3390125" y="2445025"/>
            <a:ext cx="2819400" cy="104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Create links, and fill the “</a:t>
            </a:r>
            <a:r>
              <a:rPr b="0" i="0" lang="en" sz="1400" u="none" cap="none" strike="noStrike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target</a:t>
            </a: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” attribute with the name of the frame to load, in this case the frame name is “</a:t>
            </a:r>
            <a:r>
              <a:rPr b="0" i="0" lang="en" sz="1400" u="none" cap="none" strike="noStrike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main</a:t>
            </a: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Open index.html</a:t>
            </a:r>
            <a:endParaRPr/>
          </a:p>
        </p:txBody>
      </p:sp>
      <p:pic>
        <p:nvPicPr>
          <p:cNvPr id="265" name="Google Shape;2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797102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Nested Frame</a:t>
            </a:r>
            <a:endParaRPr/>
          </a:p>
        </p:txBody>
      </p:sp>
      <p:sp>
        <p:nvSpPr>
          <p:cNvPr id="271" name="Google Shape;27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 another frameset inside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rows</a:t>
            </a:r>
            <a:r>
              <a:rPr lang="en"/>
              <a:t> attribute to split the frame by rows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cols</a:t>
            </a:r>
            <a:r>
              <a:rPr lang="en"/>
              <a:t> attribute to split the frame by columns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index.html (updated)</a:t>
            </a:r>
            <a:endParaRPr/>
          </a:p>
        </p:txBody>
      </p:sp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frameset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cols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"110,*"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"leftframe"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"nav.html"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frameset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rows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"100,*"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"info"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"info.html"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"main"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"main.html"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frameset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noframes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Not Supported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noframes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>
                <a:solidFill>
                  <a:srgbClr val="F44747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frameset</a:t>
            </a:r>
            <a:r>
              <a:rPr lang="en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" name="Google Shape;278;p35"/>
          <p:cNvSpPr txBox="1"/>
          <p:nvPr/>
        </p:nvSpPr>
        <p:spPr>
          <a:xfrm>
            <a:off x="6414900" y="1740450"/>
            <a:ext cx="24174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Add another frameset, split by rows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First row is 100 pixels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3395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Exercise to challenge yourself</a:t>
            </a:r>
            <a:endParaRPr/>
          </a:p>
        </p:txBody>
      </p:sp>
      <p:pic>
        <p:nvPicPr>
          <p:cNvPr id="289" name="Google Shape;28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5725" y="471125"/>
            <a:ext cx="6592548" cy="38209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0" name="Google Shape;290;p40"/>
          <p:cNvSpPr txBox="1"/>
          <p:nvPr/>
        </p:nvSpPr>
        <p:spPr>
          <a:xfrm>
            <a:off x="997000" y="1941175"/>
            <a:ext cx="587700" cy="400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110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1" name="Google Shape;291;p40"/>
          <p:cNvSpPr txBox="1"/>
          <p:nvPr/>
        </p:nvSpPr>
        <p:spPr>
          <a:xfrm>
            <a:off x="5553400" y="656675"/>
            <a:ext cx="587700" cy="400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2" name="Google Shape;292;p40"/>
          <p:cNvSpPr txBox="1"/>
          <p:nvPr/>
        </p:nvSpPr>
        <p:spPr>
          <a:xfrm>
            <a:off x="6227425" y="4196700"/>
            <a:ext cx="587700" cy="400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3" name="Google Shape;293;p40"/>
          <p:cNvSpPr txBox="1"/>
          <p:nvPr/>
        </p:nvSpPr>
        <p:spPr>
          <a:xfrm>
            <a:off x="7633800" y="2734575"/>
            <a:ext cx="587700" cy="400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99" name="Google Shape;29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https://www.w3schools.com/html/html_form_elements.asp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https://www.w3schools.com/html/html_form_input_types.asp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