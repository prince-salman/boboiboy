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Proxima Nova"/>
      <p:regular r:id="rId36"/>
      <p:bold r:id="rId37"/>
      <p:italic r:id="rId38"/>
      <p:boldItalic r:id="rId39"/>
    </p:embeddedFont>
    <p:embeddedFont>
      <p:font typeface="Source Code Pr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i2U3PlAoiYQ+HjupTO3REUEm8i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CodePro-regular.fntdata"/><Relationship Id="rId20" Type="http://schemas.openxmlformats.org/officeDocument/2006/relationships/slide" Target="slides/slide15.xml"/><Relationship Id="rId42" Type="http://schemas.openxmlformats.org/officeDocument/2006/relationships/font" Target="fonts/SourceCodePro-italic.fntdata"/><Relationship Id="rId41" Type="http://schemas.openxmlformats.org/officeDocument/2006/relationships/font" Target="fonts/SourceCodePro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SourceCodePr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roximaNova-bold.fntdata"/><Relationship Id="rId14" Type="http://schemas.openxmlformats.org/officeDocument/2006/relationships/slide" Target="slides/slide9.xml"/><Relationship Id="rId36" Type="http://schemas.openxmlformats.org/officeDocument/2006/relationships/font" Target="fonts/ProximaNova-regular.fntdata"/><Relationship Id="rId17" Type="http://schemas.openxmlformats.org/officeDocument/2006/relationships/slide" Target="slides/slide12.xml"/><Relationship Id="rId39" Type="http://schemas.openxmlformats.org/officeDocument/2006/relationships/font" Target="fonts/ProximaNova-boldItalic.fntdata"/><Relationship Id="rId16" Type="http://schemas.openxmlformats.org/officeDocument/2006/relationships/slide" Target="slides/slide11.xml"/><Relationship Id="rId38" Type="http://schemas.openxmlformats.org/officeDocument/2006/relationships/font" Target="fonts/ProximaNova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3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3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3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3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3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3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4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google.com/document/d/1lLeE7zlH7MKYUo7AWPXqv2CmRYQs3Pf3/edit?usp=sharing&amp;ouid=112512321509221893227&amp;rtpof=true&amp;sd=tru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eveloper.mozilla.org/en-US/docs/Learn/CSS/First_steps/Getting_started" TargetMode="External"/><Relationship Id="rId4" Type="http://schemas.openxmlformats.org/officeDocument/2006/relationships/hyperlink" Target="https://developer.mozilla.org/en-US/docs/Learn/Getting_started_with_the_web/CSS_basics" TargetMode="External"/><Relationship Id="rId5" Type="http://schemas.openxmlformats.org/officeDocument/2006/relationships/hyperlink" Target="https://developer.mozilla.org/en-US/docs/Learn/CSS/First_steps/How_CSS_is_structured#selectors" TargetMode="External"/><Relationship Id="rId6" Type="http://schemas.openxmlformats.org/officeDocument/2006/relationships/hyperlink" Target="https://developer.mozilla.org/en-US/docs/Learn/CSS/Building_blocks/Cascade_and_inheritance" TargetMode="External"/><Relationship Id="rId7" Type="http://schemas.openxmlformats.org/officeDocument/2006/relationships/hyperlink" Target="https://developer.mozilla.org/en-US/docs/Learn/CSS/First_steps/How_CSS_works" TargetMode="External"/><Relationship Id="rId8" Type="http://schemas.openxmlformats.org/officeDocument/2006/relationships/hyperlink" Target="https://developer.mozilla.org/en-US/docs/Learn/CSS/Building_bloc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Web Programming</a:t>
            </a:r>
            <a:endParaRPr/>
          </a:p>
        </p:txBody>
      </p:sp>
      <p:sp>
        <p:nvSpPr>
          <p:cNvPr id="60" name="Google Shape;60;p1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CSS (Cascading Style Sheet)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CSS (Cascading Style Sheet)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Language that describes the look or presentation of markup languages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Stylesheet language.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Three ways to use CSS: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Via style attribute (inline style)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Via style tag in head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Via separate files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Method 1: Via style attribute (Inline Style)</a:t>
            </a:r>
            <a:endParaRPr/>
          </a:p>
        </p:txBody>
      </p:sp>
      <p:sp>
        <p:nvSpPr>
          <p:cNvPr id="72" name="Google Shape;72;p3"/>
          <p:cNvSpPr txBox="1"/>
          <p:nvPr/>
        </p:nvSpPr>
        <p:spPr>
          <a:xfrm>
            <a:off x="260900" y="1017725"/>
            <a:ext cx="5622000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20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0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20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"color: red;"</a:t>
            </a: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0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this content will be in red</a:t>
            </a:r>
            <a:endParaRPr b="0" i="0" sz="20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20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5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9200" y="2830550"/>
            <a:ext cx="33909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Anatomy of a CSS</a:t>
            </a:r>
            <a:endParaRPr/>
          </a:p>
        </p:txBody>
      </p:sp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850" y="604975"/>
            <a:ext cx="676631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Method 2: Via &lt;style&gt; tag</a:t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151850" y="699875"/>
            <a:ext cx="6860100" cy="4340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5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"en"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5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1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1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20pt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this content will be in red and font-size is 20pt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5380700" y="699875"/>
            <a:ext cx="3657600" cy="147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Notice we call the tag name, followed by the curly braces and the style inside. Every style we add, we must end it with semicolon. 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Using this style, </a:t>
            </a:r>
            <a:r>
              <a:rPr b="0" i="0" lang="en" sz="1400" u="sng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all paragraph tags</a:t>
            </a: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will have red font with font size as 20pt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Method 3: Via CSS files</a:t>
            </a:r>
            <a:endParaRPr/>
          </a:p>
        </p:txBody>
      </p:sp>
      <p:sp>
        <p:nvSpPr>
          <p:cNvPr id="92" name="Google Shape;9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What if: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want to add many styles?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put everything in HTML?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want to use same styles for other pages?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We could use separate file for our CSS. The extension of the file is .css, and we could add the link to the file in 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&lt;head&gt;</a:t>
            </a:r>
            <a:r>
              <a:rPr lang="en"/>
              <a:t> tag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Adding .css file</a:t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52275" y="1092200"/>
            <a:ext cx="4892700" cy="277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4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"en"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4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"style.css"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4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Web Programming is 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&gt;fun&lt;/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&gt;!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9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5084075" y="1092200"/>
            <a:ext cx="4007700" cy="226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88846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/* style.css I am a comment :D */</a:t>
            </a:r>
            <a:endParaRPr b="0" i="0" sz="1500" u="none" cap="none" strike="noStrike">
              <a:solidFill>
                <a:srgbClr val="88846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text-decoration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underline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purple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text-transform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uppercase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500" u="none" cap="none" strike="noStrike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0" name="Google Shape;10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2850" y="4030075"/>
            <a:ext cx="539115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Selector</a:t>
            </a:r>
            <a:endParaRPr/>
          </a:p>
        </p:txBody>
      </p:sp>
      <p:sp>
        <p:nvSpPr>
          <p:cNvPr id="106" name="Google Shape;106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 target of style in HTML is called selector.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i="1" lang="en"/>
              <a:t>What if we add the same selector with different value?</a:t>
            </a:r>
            <a:endParaRPr i="1"/>
          </a:p>
        </p:txBody>
      </p:sp>
      <p:sp>
        <p:nvSpPr>
          <p:cNvPr id="107" name="Google Shape;107;p8"/>
          <p:cNvSpPr txBox="1"/>
          <p:nvPr/>
        </p:nvSpPr>
        <p:spPr>
          <a:xfrm>
            <a:off x="419100" y="2209800"/>
            <a:ext cx="3657600" cy="264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88846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/* style.css */</a:t>
            </a:r>
            <a:endParaRPr b="0" i="0" sz="2000" u="none" cap="none" strike="noStrike">
              <a:solidFill>
                <a:srgbClr val="88846F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20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20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20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0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0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20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20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20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0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0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" name="Google Shape;108;p8"/>
          <p:cNvSpPr txBox="1"/>
          <p:nvPr/>
        </p:nvSpPr>
        <p:spPr>
          <a:xfrm>
            <a:off x="4330700" y="2235200"/>
            <a:ext cx="3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Result is BLUE because the </a:t>
            </a:r>
            <a:r>
              <a:rPr b="0" i="0" lang="en" sz="1400" u="sng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last one</a:t>
            </a: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is used. This is called “</a:t>
            </a:r>
            <a:r>
              <a:rPr b="1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Cascading</a:t>
            </a: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” rule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Multiple selectors</a:t>
            </a:r>
            <a:endParaRPr/>
          </a:p>
        </p:txBody>
      </p:sp>
      <p:sp>
        <p:nvSpPr>
          <p:cNvPr id="114" name="Google Shape;114;p9"/>
          <p:cNvSpPr txBox="1"/>
          <p:nvPr/>
        </p:nvSpPr>
        <p:spPr>
          <a:xfrm>
            <a:off x="419100" y="1263650"/>
            <a:ext cx="4189500" cy="166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32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32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32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32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32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32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3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4686300" y="1371600"/>
            <a:ext cx="3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This means make all contents of paragraph, header 1 and div with red font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if</a:t>
            </a:r>
            <a:endParaRPr/>
          </a:p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What if we use unknown property or value?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Nothing will happen, so it is safe and our document is not formatted</a:t>
            </a:r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2505550" y="2306875"/>
            <a:ext cx="4189500" cy="166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32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32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32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32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hohoho</a:t>
            </a: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32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32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37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Types of selectors</a:t>
            </a:r>
            <a:endParaRPr/>
          </a:p>
        </p:txBody>
      </p:sp>
      <p:sp>
        <p:nvSpPr>
          <p:cNvPr id="128" name="Google Shape;128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Could we use different kind of selectors? We could and in fact we have 4 choices to use as selector in CSS: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Type</a:t>
            </a:r>
            <a:r>
              <a:rPr lang="en"/>
              <a:t>: the one we have seen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Attributes</a:t>
            </a:r>
            <a:r>
              <a:rPr lang="en"/>
              <a:t>: using HTML tag attribute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ID</a:t>
            </a:r>
            <a:r>
              <a:rPr lang="en"/>
              <a:t>: the ID of HTML element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Class</a:t>
            </a:r>
            <a:r>
              <a:rPr lang="en"/>
              <a:t>: the class of HTML element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HTML id and name attribute</a:t>
            </a:r>
            <a:endParaRPr/>
          </a:p>
        </p:txBody>
      </p:sp>
      <p:sp>
        <p:nvSpPr>
          <p:cNvPr id="134" name="Google Shape;134;p12"/>
          <p:cNvSpPr txBox="1"/>
          <p:nvPr>
            <p:ph idx="1" type="body"/>
          </p:nvPr>
        </p:nvSpPr>
        <p:spPr>
          <a:xfrm>
            <a:off x="311700" y="542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600"/>
              <a:t>Format / style certain elements in our HTML with </a:t>
            </a:r>
            <a:r>
              <a:rPr b="1" lang="en" sz="1600"/>
              <a:t>id</a:t>
            </a:r>
            <a:r>
              <a:rPr lang="en" sz="1600"/>
              <a:t> or </a:t>
            </a:r>
            <a:r>
              <a:rPr b="1" lang="en" sz="1600"/>
              <a:t>name</a:t>
            </a:r>
            <a:r>
              <a:rPr lang="en" sz="1600"/>
              <a:t> or any attribute in the HTML. </a:t>
            </a:r>
            <a:endParaRPr sz="1600"/>
          </a:p>
        </p:txBody>
      </p:sp>
      <p:sp>
        <p:nvSpPr>
          <p:cNvPr id="135" name="Google Shape;135;p12"/>
          <p:cNvSpPr txBox="1"/>
          <p:nvPr/>
        </p:nvSpPr>
        <p:spPr>
          <a:xfrm>
            <a:off x="158750" y="1208825"/>
            <a:ext cx="5070600" cy="363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4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"en"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4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"style.css"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4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4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"myParagraph"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this content will be in blue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4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4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"myDiv"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This is a content of a div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4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4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5371450" y="1209563"/>
            <a:ext cx="3657600" cy="2447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" sz="21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n" sz="21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21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myParagraph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] {</a:t>
            </a:r>
            <a:endParaRPr b="0" i="0" sz="21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21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21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1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1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" sz="21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" sz="21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21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myDiv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] {</a:t>
            </a:r>
            <a:endParaRPr b="0" i="0" sz="21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21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21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1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21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21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1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7" name="Google Shape;1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3375" y="3750950"/>
            <a:ext cx="3127375" cy="14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Besides that, we could just use id selector</a:t>
            </a:r>
            <a:endParaRPr/>
          </a:p>
        </p:txBody>
      </p:sp>
      <p:sp>
        <p:nvSpPr>
          <p:cNvPr id="143" name="Google Shape;143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</a:t>
            </a: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#</a:t>
            </a:r>
            <a:r>
              <a:rPr lang="en"/>
              <a:t> before </a:t>
            </a:r>
            <a:r>
              <a:rPr b="1" lang="en"/>
              <a:t>id</a:t>
            </a:r>
            <a:r>
              <a:rPr lang="en"/>
              <a:t> in CSS to apply style only for elements with id “myParagraph”.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 elements with </a:t>
            </a:r>
            <a:r>
              <a:rPr b="1" lang="en"/>
              <a:t>id=”myParagraph”</a:t>
            </a:r>
            <a:r>
              <a:rPr lang="en"/>
              <a:t> will be blue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421800" y="2272850"/>
            <a:ext cx="3657600" cy="120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#myParagraph</a:t>
            </a:r>
            <a:r>
              <a:rPr b="0" i="0" lang="en" sz="2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22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22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2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22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0" i="0" lang="en" sz="2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2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Class</a:t>
            </a:r>
            <a:endParaRPr/>
          </a:p>
        </p:txBody>
      </p: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311700" y="695275"/>
            <a:ext cx="85206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class attribute in tag to give HTML certain style. 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217025" y="1142275"/>
            <a:ext cx="5184000" cy="295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5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"en"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5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"style.css"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5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5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"myClass"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White on Black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5486400" y="1221475"/>
            <a:ext cx="3657600" cy="123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.myClass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1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white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1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black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3100" u="none" cap="none" strike="noStrike">
              <a:solidFill>
                <a:srgbClr val="A6E22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3" name="Google Shape;1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1225" y="3755050"/>
            <a:ext cx="501015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Selector with Class</a:t>
            </a:r>
            <a:endParaRPr/>
          </a:p>
        </p:txBody>
      </p:sp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specific style to specific selector with certain class.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Format: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selector.className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406400" y="2368550"/>
            <a:ext cx="3657600" cy="115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21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.myClass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21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21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21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1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100" u="none" cap="none" strike="noStrike">
              <a:solidFill>
                <a:srgbClr val="A6E22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311700" y="1145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one paragraph after the heading to have red text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the &lt;em&gt; inside &lt;li&gt; has background color of green</a:t>
            </a:r>
            <a:endParaRPr/>
          </a:p>
        </p:txBody>
      </p:sp>
      <p:sp>
        <p:nvSpPr>
          <p:cNvPr id="166" name="Google Shape;16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Combinator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311700" y="1885950"/>
            <a:ext cx="4397700" cy="249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&gt;This is a heading&lt;/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&gt;This is a paragraph&lt;/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&gt;This is another paragraph&lt;/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&gt;John&lt;/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&gt;Jane&lt;/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em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&gt;Tom&lt;/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em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8" name="Google Shape;1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9850" y="1921250"/>
            <a:ext cx="3812450" cy="28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Combinator - Adjacent</a:t>
            </a:r>
            <a:endParaRPr/>
          </a:p>
        </p:txBody>
      </p:sp>
      <p:sp>
        <p:nvSpPr>
          <p:cNvPr id="174" name="Google Shape;17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If we want to change the style of element that comes exactly after an element, we use “</a:t>
            </a:r>
            <a:r>
              <a:rPr b="1" lang="en"/>
              <a:t>adjacent sibling combinator</a:t>
            </a:r>
            <a:r>
              <a:rPr lang="en"/>
              <a:t>” (with + sign). 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311700" y="1987375"/>
            <a:ext cx="6416100" cy="147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" sz="2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8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" sz="2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8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2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2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28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2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28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" sz="2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33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Combinator - Descendant</a:t>
            </a:r>
            <a:endParaRPr/>
          </a:p>
        </p:txBody>
      </p:sp>
      <p:sp>
        <p:nvSpPr>
          <p:cNvPr id="181" name="Google Shape;18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If we want to change the style of element that is exactly inside an element, we use “</a:t>
            </a:r>
            <a:r>
              <a:rPr b="1" lang="en"/>
              <a:t>descendant combinator</a:t>
            </a:r>
            <a:r>
              <a:rPr lang="en"/>
              <a:t>” (separated by space)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311700" y="1911175"/>
            <a:ext cx="6416100" cy="143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" sz="2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7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em</a:t>
            </a:r>
            <a:r>
              <a:rPr b="0" i="0" lang="en" sz="2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2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2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en" sz="2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2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green</a:t>
            </a:r>
            <a:r>
              <a:rPr b="0" i="0" lang="en" sz="2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3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CSS based on state</a:t>
            </a:r>
            <a:endParaRPr/>
          </a:p>
        </p:txBody>
      </p:sp>
      <p:sp>
        <p:nvSpPr>
          <p:cNvPr id="188" name="Google Shape;18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Remember the hyperlink discussion? Where I stated that a link will change its color when you visit it but it didn’t? It is because we do not have distinguish style for our hyperlink element.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 hyperlink element has: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link (default): normal, unvisited link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visited: visited link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hover: when user hovers on the link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active: when user clicks on the link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Styling Links with Pseudoclass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381000" y="1206500"/>
            <a:ext cx="83001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6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6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"https://puis.president.ac.id"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6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6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"_blank"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&gt;PUIS&lt;/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00050" y="1746250"/>
            <a:ext cx="3657600" cy="332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" sz="17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:link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green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" sz="17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:visited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black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" sz="17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:hover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" sz="17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:active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Inheritance and Cascade</a:t>
            </a:r>
            <a:endParaRPr/>
          </a:p>
        </p:txBody>
      </p:sp>
      <p:sp>
        <p:nvSpPr>
          <p:cNvPr id="201" name="Google Shape;20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Cascade plays important roles in CSS (hence Cascading Style Sheet). This means if we have same element with same importance, the one applied is the last found in the file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25450" y="2286000"/>
            <a:ext cx="3657600" cy="92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This will be in red</a:t>
            </a:r>
            <a:endParaRPr b="0" i="0" sz="16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54550" y="2305050"/>
            <a:ext cx="3657600" cy="201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7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7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Inheritance and Cascade</a:t>
            </a:r>
            <a:endParaRPr/>
          </a:p>
        </p:txBody>
      </p:sp>
      <p:sp>
        <p:nvSpPr>
          <p:cNvPr id="209" name="Google Shape;2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Different with cascade, inheritance in css means all of the styles applied in the higher level of element will also be applied to the children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6800" y="1917700"/>
            <a:ext cx="6020700" cy="278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3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3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3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"en"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3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3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"style.css"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3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3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3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Because the body is blue, the paragraph inherits the blue color except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&gt;this part&lt;/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6312175" y="2028300"/>
            <a:ext cx="2520000" cy="212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18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8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18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8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3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NOW LET’S HAVE FUN</a:t>
            </a:r>
            <a:endParaRPr/>
          </a:p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Let’s see what properties we could use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BUT do not limit yourself to these properties! Have fun and combine them :)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Remember: “Sky is the only limit”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Text Decoration</a:t>
            </a:r>
            <a:endParaRPr/>
          </a:p>
        </p:txBody>
      </p:sp>
      <p:pic>
        <p:nvPicPr>
          <p:cNvPr id="223" name="Google Shape;2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0296"/>
            <a:ext cx="9143999" cy="3348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CSS Shorthand</a:t>
            </a:r>
            <a:endParaRPr/>
          </a:p>
        </p:txBody>
      </p:sp>
      <p:sp>
        <p:nvSpPr>
          <p:cNvPr id="229" name="Google Shape;229;p25"/>
          <p:cNvSpPr txBox="1"/>
          <p:nvPr>
            <p:ph idx="1" type="body"/>
          </p:nvPr>
        </p:nvSpPr>
        <p:spPr>
          <a:xfrm>
            <a:off x="311700" y="1152475"/>
            <a:ext cx="85206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simplify properties in certain cases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From previous slide, we could use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text-decoration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49250" y="2060050"/>
            <a:ext cx="4446600" cy="210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1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text-decoration-line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underline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1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text-decoration-style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wavy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1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text-decoration-color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green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1" lang="en" sz="15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text-decoration-thickness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500" u="none" cap="none" strike="noStrike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5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CSS is also 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&gt;Fun&lt;/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4529450" y="2060050"/>
            <a:ext cx="4539600" cy="138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2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" sz="12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text-decoration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2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underline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wavy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00" u="none" cap="none" strike="noStrike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green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00" u="none" cap="none" strike="noStrike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CSS is also &lt;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&gt;Fun&lt;/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32" name="Google Shape;2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8800" y="570825"/>
            <a:ext cx="2133600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311700" y="-12175"/>
            <a:ext cx="289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Text Properties</a:t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3775" y="0"/>
            <a:ext cx="5490224" cy="488445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 txBox="1"/>
          <p:nvPr/>
        </p:nvSpPr>
        <p:spPr>
          <a:xfrm>
            <a:off x="311700" y="1584625"/>
            <a:ext cx="216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Note: text in </a:t>
            </a:r>
            <a:r>
              <a:rPr b="0" i="1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italic</a:t>
            </a: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is variable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idx="1" type="body"/>
          </p:nvPr>
        </p:nvSpPr>
        <p:spPr>
          <a:xfrm>
            <a:off x="32475" y="66025"/>
            <a:ext cx="2898600" cy="314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3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3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pink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3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word-spacing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3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3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3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#B31F6D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3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letter-spacing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3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-2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3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3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rgb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3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3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255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3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letter-spacing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3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0.2</a:t>
            </a:r>
            <a:r>
              <a:rPr lang="en" sz="13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cm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3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direction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3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rtl</a:t>
            </a: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27"/>
          <p:cNvSpPr txBox="1"/>
          <p:nvPr>
            <p:ph idx="1" type="body"/>
          </p:nvPr>
        </p:nvSpPr>
        <p:spPr>
          <a:xfrm>
            <a:off x="2964600" y="66025"/>
            <a:ext cx="6134100" cy="9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&gt;Welcome to President University Computing&lt;/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&gt;Web Programming&lt;/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5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&gt;Let's work with HTML and CSS&lt;/</a:t>
            </a:r>
            <a:r>
              <a:rPr lang="en" sz="15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" sz="15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900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46" name="Google Shape;2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925" y="3361225"/>
            <a:ext cx="8546675" cy="13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/>
          <p:nvPr>
            <p:ph idx="1" type="body"/>
          </p:nvPr>
        </p:nvSpPr>
        <p:spPr>
          <a:xfrm>
            <a:off x="60800" y="76250"/>
            <a:ext cx="3590400" cy="292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" sz="1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.headline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2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text-align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2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text-transform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capitalize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2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text-shadow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#f4ed30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2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text-indent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2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line-height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2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1200">
                <a:solidFill>
                  <a:srgbClr val="66D9E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white-space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: break-spaces;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100"/>
          </a:p>
        </p:txBody>
      </p:sp>
      <p:sp>
        <p:nvSpPr>
          <p:cNvPr id="252" name="Google Shape;252;p28"/>
          <p:cNvSpPr txBox="1"/>
          <p:nvPr>
            <p:ph idx="1" type="body"/>
          </p:nvPr>
        </p:nvSpPr>
        <p:spPr>
          <a:xfrm>
            <a:off x="3723925" y="123000"/>
            <a:ext cx="5328300" cy="237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"headline"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&gt;headline news in computing&lt;/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Lecturers for Web Programming:&lt;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Mr. Rila&lt;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Mr. Rusdianto&lt;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Mr. Ronny&lt;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Mr. Christian&lt;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Williem&lt;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&gt;Today we learn about CSS fundamentals and basic properties&lt;/</a:t>
            </a:r>
            <a:r>
              <a:rPr lang="en" sz="1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n" sz="1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100"/>
          </a:p>
        </p:txBody>
      </p:sp>
      <p:pic>
        <p:nvPicPr>
          <p:cNvPr id="253" name="Google Shape;2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3600" y="2654700"/>
            <a:ext cx="5103358" cy="233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Let’s continue</a:t>
            </a:r>
            <a:endParaRPr/>
          </a:p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https://docs.google.com/document/d/1lLeE7zlH7MKYUo7AWPXqv2CmRYQs3Pf3/edit?usp=sharing&amp;ouid=112512321509221893227&amp;rtpof=true&amp;sd=true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65" name="Google Shape;265;p30"/>
          <p:cNvSpPr txBox="1"/>
          <p:nvPr>
            <p:ph idx="1" type="body"/>
          </p:nvPr>
        </p:nvSpPr>
        <p:spPr>
          <a:xfrm>
            <a:off x="39625" y="1152475"/>
            <a:ext cx="9072000" cy="3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https://developer.mozilla.org/en-US/docs/Learn/CSS/First_steps/Getting_started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https://developer.mozilla.org/en-US/docs/Learn/Getting_started_with_the_web/CSS_basics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https://developer.mozilla.org/en-US/docs/Learn/CSS/First_steps/How_CSS_is_structured#selectors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https://developer.mozilla.org/en-US/docs/Learn/CSS/Building_blocks/Cascade_and_inheritance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https://developer.mozilla.org/en-US/docs/Learn/CSS/First_steps/How_CSS_works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https://developer.mozilla.org/en-US/docs/Learn/CSS/Building_blocks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