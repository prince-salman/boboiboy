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Proxima Nova"/>
      <p:regular r:id="rId46"/>
      <p:bold r:id="rId47"/>
      <p:italic r:id="rId48"/>
      <p:boldItalic r:id="rId49"/>
    </p:embeddedFont>
    <p:embeddedFont>
      <p:font typeface="Source Code Pr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4" roundtripDataSignature="AMtx7mgQ66tFeX3b/Gho1Uvgv4fxvvUv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roximaNova-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roximaNova-italic.fntdata"/><Relationship Id="rId47" Type="http://schemas.openxmlformats.org/officeDocument/2006/relationships/font" Target="fonts/ProximaNova-bold.fntdata"/><Relationship Id="rId49"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SourceCodePro-bold.fntdata"/><Relationship Id="rId50" Type="http://schemas.openxmlformats.org/officeDocument/2006/relationships/font" Target="fonts/SourceCodePro-regular.fntdata"/><Relationship Id="rId53" Type="http://schemas.openxmlformats.org/officeDocument/2006/relationships/font" Target="fonts/SourceCodePro-boldItalic.fntdata"/><Relationship Id="rId52" Type="http://schemas.openxmlformats.org/officeDocument/2006/relationships/font" Target="fonts/SourceCodePro-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8cfa3cf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08cfa3cf1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08cfa3cf1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08cfa3cf1a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4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42"/>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2" name="Google Shape;12;p42"/>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cxnSp>
        <p:nvCxnSpPr>
          <p:cNvPr id="20" name="Google Shape;20;p4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21" name="Google Shape;21;p44"/>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2" name="Google Shape;2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4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4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4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4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48"/>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4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 name="Google Shape;40;p4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49"/>
          <p:cNvSpPr txBox="1"/>
          <p:nvPr>
            <p:ph type="title"/>
          </p:nvPr>
        </p:nvSpPr>
        <p:spPr>
          <a:xfrm>
            <a:off x="265500" y="1205825"/>
            <a:ext cx="4045200" cy="1509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9"/>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4" name="Google Shape;44;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50"/>
          <p:cNvSpPr txBox="1"/>
          <p:nvPr>
            <p:ph idx="1" type="body"/>
          </p:nvPr>
        </p:nvSpPr>
        <p:spPr>
          <a:xfrm>
            <a:off x="311700" y="42368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47" name="Google Shape;47;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5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1"/>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51" name="Google Shape;51;p51"/>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Proxima Nova"/>
              <a:buChar char="●"/>
              <a:defRPr b="0" i="0" sz="1800" u="none" cap="none" strike="noStrike">
                <a:solidFill>
                  <a:schemeClr val="accent3"/>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9pPr>
          </a:lstStyle>
          <a:p/>
        </p:txBody>
      </p:sp>
      <p:sp>
        <p:nvSpPr>
          <p:cNvPr id="8" name="Google Shape;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getbootstrap.com/" TargetMode="External"/><Relationship Id="rId4" Type="http://schemas.openxmlformats.org/officeDocument/2006/relationships/hyperlink" Target="https://unocss.dev/" TargetMode="External"/><Relationship Id="rId9" Type="http://schemas.openxmlformats.org/officeDocument/2006/relationships/hyperlink" Target="https://www.w3schools.com/w3css/w3css_intro.asp" TargetMode="External"/><Relationship Id="rId5" Type="http://schemas.openxmlformats.org/officeDocument/2006/relationships/hyperlink" Target="https://tailwindcss.com/" TargetMode="External"/><Relationship Id="rId6" Type="http://schemas.openxmlformats.org/officeDocument/2006/relationships/hyperlink" Target="https://picocss.com/" TargetMode="External"/><Relationship Id="rId7" Type="http://schemas.openxmlformats.org/officeDocument/2006/relationships/hyperlink" Target="https://sass-lang.com/" TargetMode="External"/><Relationship Id="rId8" Type="http://schemas.openxmlformats.org/officeDocument/2006/relationships/hyperlink" Target="https://lesscss.org/"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www.w3schools.com/css/css_rwd_intro.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800"/>
              <a:buNone/>
            </a:pPr>
            <a:r>
              <a:rPr lang="en"/>
              <a:t>Web Programming</a:t>
            </a:r>
            <a:endParaRPr/>
          </a:p>
        </p:txBody>
      </p:sp>
      <p:sp>
        <p:nvSpPr>
          <p:cNvPr id="60" name="Google Shape;60;p1"/>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CSS Responsive Web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Responsive Web Design</a:t>
            </a:r>
            <a:endParaRPr/>
          </a:p>
        </p:txBody>
      </p:sp>
      <p:sp>
        <p:nvSpPr>
          <p:cNvPr id="66" name="Google Shape;66;p2"/>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Design web page to be responsive</a:t>
            </a:r>
            <a:endParaRPr/>
          </a:p>
          <a:p>
            <a:pPr indent="-342900" lvl="0" marL="457200" rtl="0" algn="just">
              <a:lnSpc>
                <a:spcPct val="115000"/>
              </a:lnSpc>
              <a:spcBef>
                <a:spcPts val="0"/>
              </a:spcBef>
              <a:spcAft>
                <a:spcPts val="0"/>
              </a:spcAft>
              <a:buSzPts val="1800"/>
              <a:buChar char="-"/>
            </a:pPr>
            <a:r>
              <a:rPr lang="en"/>
              <a:t>Responsive means working on all devices with wide range of size varieties</a:t>
            </a:r>
            <a:endParaRPr/>
          </a:p>
          <a:p>
            <a:pPr indent="-342900" lvl="0" marL="457200" rtl="0" algn="just">
              <a:lnSpc>
                <a:spcPct val="115000"/>
              </a:lnSpc>
              <a:spcBef>
                <a:spcPts val="0"/>
              </a:spcBef>
              <a:spcAft>
                <a:spcPts val="0"/>
              </a:spcAft>
              <a:buSzPts val="1800"/>
              <a:buChar char="-"/>
            </a:pPr>
            <a:r>
              <a:rPr lang="en"/>
              <a:t>Responsive design could be achieved by using only HTML and CSS</a:t>
            </a:r>
            <a:endParaRPr/>
          </a:p>
          <a:p>
            <a:pPr indent="-342900" lvl="0" marL="457200" rtl="0" algn="just">
              <a:lnSpc>
                <a:spcPct val="115000"/>
              </a:lnSpc>
              <a:spcBef>
                <a:spcPts val="0"/>
              </a:spcBef>
              <a:spcAft>
                <a:spcPts val="0"/>
              </a:spcAft>
              <a:buSzPts val="1800"/>
              <a:buChar char="-"/>
            </a:pPr>
            <a:r>
              <a:rPr lang="en"/>
              <a:t>Result could be seen by shrinking, resizing, and changing the layout of devices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Principles of Responsive Design</a:t>
            </a:r>
            <a:endParaRPr/>
          </a:p>
        </p:txBody>
      </p:sp>
      <p:sp>
        <p:nvSpPr>
          <p:cNvPr id="72" name="Google Shape;72;p3"/>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Cover most devices</a:t>
            </a:r>
            <a:endParaRPr/>
          </a:p>
          <a:p>
            <a:pPr indent="-342900" lvl="0" marL="457200" rtl="0" algn="just">
              <a:lnSpc>
                <a:spcPct val="115000"/>
              </a:lnSpc>
              <a:spcBef>
                <a:spcPts val="0"/>
              </a:spcBef>
              <a:spcAft>
                <a:spcPts val="0"/>
              </a:spcAft>
              <a:buSzPts val="1800"/>
              <a:buChar char="-"/>
            </a:pPr>
            <a:r>
              <a:rPr lang="en"/>
              <a:t>Keep the design aesthetic</a:t>
            </a:r>
            <a:endParaRPr/>
          </a:p>
          <a:p>
            <a:pPr indent="-342900" lvl="0" marL="457200" rtl="0" algn="just">
              <a:lnSpc>
                <a:spcPct val="115000"/>
              </a:lnSpc>
              <a:spcBef>
                <a:spcPts val="0"/>
              </a:spcBef>
              <a:spcAft>
                <a:spcPts val="0"/>
              </a:spcAft>
              <a:buSzPts val="1800"/>
              <a:buChar char="-"/>
            </a:pPr>
            <a:r>
              <a:rPr lang="en"/>
              <a:t>Must not leave out information, but adapt the content</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Viewport</a:t>
            </a:r>
            <a:endParaRPr/>
          </a:p>
        </p:txBody>
      </p:sp>
      <p:sp>
        <p:nvSpPr>
          <p:cNvPr id="78" name="Google Shape;78;p4"/>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User’s visible area of a web page</a:t>
            </a:r>
            <a:endParaRPr/>
          </a:p>
          <a:p>
            <a:pPr indent="-342900" lvl="0" marL="457200" rtl="0" algn="just">
              <a:lnSpc>
                <a:spcPct val="115000"/>
              </a:lnSpc>
              <a:spcBef>
                <a:spcPts val="0"/>
              </a:spcBef>
              <a:spcAft>
                <a:spcPts val="0"/>
              </a:spcAft>
              <a:buSzPts val="1800"/>
              <a:buChar char="-"/>
            </a:pPr>
            <a:r>
              <a:rPr lang="en"/>
              <a:t>Varies with the device dimension</a:t>
            </a:r>
            <a:endParaRPr/>
          </a:p>
          <a:p>
            <a:pPr indent="-342900" lvl="0" marL="457200" rtl="0" algn="just">
              <a:lnSpc>
                <a:spcPct val="115000"/>
              </a:lnSpc>
              <a:spcBef>
                <a:spcPts val="0"/>
              </a:spcBef>
              <a:spcAft>
                <a:spcPts val="0"/>
              </a:spcAft>
              <a:buSzPts val="1800"/>
              <a:buChar char="-"/>
            </a:pPr>
            <a:r>
              <a:rPr lang="en"/>
              <a:t>HTML5 lets developer to manipulate the viewport using </a:t>
            </a:r>
            <a:r>
              <a:rPr lang="en">
                <a:latin typeface="Source Code Pro"/>
                <a:ea typeface="Source Code Pro"/>
                <a:cs typeface="Source Code Pro"/>
                <a:sym typeface="Source Code Pro"/>
              </a:rPr>
              <a:t>&lt;meta&gt;</a:t>
            </a:r>
            <a:r>
              <a:rPr lang="en"/>
              <a:t> tag</a:t>
            </a:r>
            <a:endParaRPr/>
          </a:p>
          <a:p>
            <a:pPr indent="-342900" lvl="0" marL="457200" rtl="0" algn="just">
              <a:lnSpc>
                <a:spcPct val="115000"/>
              </a:lnSpc>
              <a:spcBef>
                <a:spcPts val="0"/>
              </a:spcBef>
              <a:spcAft>
                <a:spcPts val="0"/>
              </a:spcAft>
              <a:buSzPts val="1800"/>
              <a:buChar char="-"/>
            </a:pPr>
            <a:r>
              <a:rPr lang="en"/>
              <a:t>It is a good practice to include the viewport in the meta tag in all the webpages to make sure it has the responsive capabilities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Using viewport in the </a:t>
            </a:r>
            <a:r>
              <a:rPr lang="en">
                <a:solidFill>
                  <a:srgbClr val="3C78D8"/>
                </a:solidFill>
                <a:latin typeface="Source Code Pro"/>
                <a:ea typeface="Source Code Pro"/>
                <a:cs typeface="Source Code Pro"/>
                <a:sym typeface="Source Code Pro"/>
              </a:rPr>
              <a:t>&lt;head&gt;</a:t>
            </a:r>
            <a:r>
              <a:rPr lang="en"/>
              <a:t> tag</a:t>
            </a:r>
            <a:endParaRPr/>
          </a:p>
        </p:txBody>
      </p:sp>
      <p:sp>
        <p:nvSpPr>
          <p:cNvPr id="84" name="Google Shape;84;p5"/>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sz="1600">
                <a:solidFill>
                  <a:srgbClr val="0000CD"/>
                </a:solidFill>
                <a:latin typeface="Source Code Pro"/>
                <a:ea typeface="Source Code Pro"/>
                <a:cs typeface="Source Code Pro"/>
                <a:sym typeface="Source Code Pro"/>
              </a:rPr>
              <a:t>&lt;</a:t>
            </a:r>
            <a:r>
              <a:rPr lang="en" sz="1600">
                <a:solidFill>
                  <a:srgbClr val="A52A2A"/>
                </a:solidFill>
                <a:latin typeface="Source Code Pro"/>
                <a:ea typeface="Source Code Pro"/>
                <a:cs typeface="Source Code Pro"/>
                <a:sym typeface="Source Code Pro"/>
              </a:rPr>
              <a:t>meta</a:t>
            </a:r>
            <a:r>
              <a:rPr lang="en" sz="1600">
                <a:solidFill>
                  <a:srgbClr val="FF0000"/>
                </a:solidFill>
                <a:latin typeface="Source Code Pro"/>
                <a:ea typeface="Source Code Pro"/>
                <a:cs typeface="Source Code Pro"/>
                <a:sym typeface="Source Code Pro"/>
              </a:rPr>
              <a:t> name</a:t>
            </a:r>
            <a:r>
              <a:rPr lang="en" sz="1600">
                <a:solidFill>
                  <a:srgbClr val="0000CD"/>
                </a:solidFill>
                <a:latin typeface="Source Code Pro"/>
                <a:ea typeface="Source Code Pro"/>
                <a:cs typeface="Source Code Pro"/>
                <a:sym typeface="Source Code Pro"/>
              </a:rPr>
              <a:t>="viewport"</a:t>
            </a:r>
            <a:r>
              <a:rPr lang="en" sz="1600">
                <a:solidFill>
                  <a:srgbClr val="FF0000"/>
                </a:solidFill>
                <a:latin typeface="Source Code Pro"/>
                <a:ea typeface="Source Code Pro"/>
                <a:cs typeface="Source Code Pro"/>
                <a:sym typeface="Source Code Pro"/>
              </a:rPr>
              <a:t> content</a:t>
            </a:r>
            <a:r>
              <a:rPr lang="en" sz="1600">
                <a:solidFill>
                  <a:srgbClr val="0000CD"/>
                </a:solidFill>
                <a:latin typeface="Source Code Pro"/>
                <a:ea typeface="Source Code Pro"/>
                <a:cs typeface="Source Code Pro"/>
                <a:sym typeface="Source Code Pro"/>
              </a:rPr>
              <a:t>="width=device-width, initial-scale=1.0"&gt;</a:t>
            </a:r>
            <a:endParaRPr sz="1600">
              <a:solidFill>
                <a:srgbClr val="0000CD"/>
              </a:solidFill>
              <a:latin typeface="Source Code Pro"/>
              <a:ea typeface="Source Code Pro"/>
              <a:cs typeface="Source Code Pro"/>
              <a:sym typeface="Source Code Pro"/>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SzPts val="1800"/>
              <a:buNone/>
            </a:pPr>
            <a:r>
              <a:rPr lang="en"/>
              <a:t>Parts:</a:t>
            </a:r>
            <a:endParaRPr/>
          </a:p>
          <a:p>
            <a:pPr indent="-342900" lvl="0" marL="457200" rtl="0" algn="just">
              <a:lnSpc>
                <a:spcPct val="115000"/>
              </a:lnSpc>
              <a:spcBef>
                <a:spcPts val="1200"/>
              </a:spcBef>
              <a:spcAft>
                <a:spcPts val="0"/>
              </a:spcAft>
              <a:buClr>
                <a:srgbClr val="FF0000"/>
              </a:buClr>
              <a:buSzPts val="1800"/>
              <a:buFont typeface="Source Code Pro"/>
              <a:buAutoNum type="arabicPeriod"/>
            </a:pPr>
            <a:r>
              <a:rPr lang="en">
                <a:solidFill>
                  <a:srgbClr val="FF0000"/>
                </a:solidFill>
                <a:latin typeface="Source Code Pro"/>
                <a:ea typeface="Source Code Pro"/>
                <a:cs typeface="Source Code Pro"/>
                <a:sym typeface="Source Code Pro"/>
              </a:rPr>
              <a:t>width=device-width</a:t>
            </a:r>
            <a:endParaRPr>
              <a:solidFill>
                <a:srgbClr val="FF0000"/>
              </a:solidFill>
              <a:latin typeface="Source Code Pro"/>
              <a:ea typeface="Source Code Pro"/>
              <a:cs typeface="Source Code Pro"/>
              <a:sym typeface="Source Code Pro"/>
            </a:endParaRPr>
          </a:p>
          <a:p>
            <a:pPr indent="0" lvl="0" marL="0" rtl="0" algn="just">
              <a:lnSpc>
                <a:spcPct val="115000"/>
              </a:lnSpc>
              <a:spcBef>
                <a:spcPts val="1200"/>
              </a:spcBef>
              <a:spcAft>
                <a:spcPts val="0"/>
              </a:spcAft>
              <a:buSzPts val="1800"/>
              <a:buNone/>
            </a:pPr>
            <a:r>
              <a:rPr lang="en"/>
              <a:t>	Set the width of page to follow the screen width of the device</a:t>
            </a:r>
            <a:endParaRPr/>
          </a:p>
          <a:p>
            <a:pPr indent="-342900" lvl="0" marL="457200" rtl="0" algn="just">
              <a:lnSpc>
                <a:spcPct val="115000"/>
              </a:lnSpc>
              <a:spcBef>
                <a:spcPts val="1200"/>
              </a:spcBef>
              <a:spcAft>
                <a:spcPts val="0"/>
              </a:spcAft>
              <a:buClr>
                <a:srgbClr val="FF0000"/>
              </a:buClr>
              <a:buSzPts val="1800"/>
              <a:buFont typeface="Source Code Pro"/>
              <a:buAutoNum type="arabicPeriod"/>
            </a:pPr>
            <a:r>
              <a:rPr lang="en">
                <a:solidFill>
                  <a:srgbClr val="FF0000"/>
                </a:solidFill>
                <a:latin typeface="Source Code Pro"/>
                <a:ea typeface="Source Code Pro"/>
                <a:cs typeface="Source Code Pro"/>
                <a:sym typeface="Source Code Pro"/>
              </a:rPr>
              <a:t>initial-scale=1.0</a:t>
            </a:r>
            <a:endParaRPr>
              <a:solidFill>
                <a:srgbClr val="FF0000"/>
              </a:solidFill>
              <a:latin typeface="Source Code Pro"/>
              <a:ea typeface="Source Code Pro"/>
              <a:cs typeface="Source Code Pro"/>
              <a:sym typeface="Source Code Pro"/>
            </a:endParaRPr>
          </a:p>
          <a:p>
            <a:pPr indent="0" lvl="0" marL="0" rtl="0" algn="just">
              <a:lnSpc>
                <a:spcPct val="115000"/>
              </a:lnSpc>
              <a:spcBef>
                <a:spcPts val="1200"/>
              </a:spcBef>
              <a:spcAft>
                <a:spcPts val="1200"/>
              </a:spcAft>
              <a:buSzPts val="1800"/>
              <a:buNone/>
            </a:pPr>
            <a:r>
              <a:rPr lang="en"/>
              <a:t>	Set the zoom level to 1 when page is first loaded by browser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6"/>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without viewport</a:t>
            </a:r>
            <a:endParaRPr/>
          </a:p>
        </p:txBody>
      </p:sp>
      <p:sp>
        <p:nvSpPr>
          <p:cNvPr id="90" name="Google Shape;90;p6"/>
          <p:cNvSpPr txBox="1"/>
          <p:nvPr>
            <p:ph idx="1" type="body"/>
          </p:nvPr>
        </p:nvSpPr>
        <p:spPr>
          <a:xfrm>
            <a:off x="72625" y="640255"/>
            <a:ext cx="9019200" cy="43776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DOCTYPE</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html</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html</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lang</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"en"</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head</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style</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lang="en" sz="1300">
                <a:solidFill>
                  <a:srgbClr val="F92672"/>
                </a:solidFill>
                <a:highlight>
                  <a:srgbClr val="272822"/>
                </a:highlight>
                <a:latin typeface="Courier New"/>
                <a:ea typeface="Courier New"/>
                <a:cs typeface="Courier New"/>
                <a:sym typeface="Courier New"/>
              </a:rPr>
              <a:t>img</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width</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50</a:t>
            </a:r>
            <a:r>
              <a:rPr lang="en" sz="1300">
                <a:solidFill>
                  <a:srgbClr val="F92672"/>
                </a:solidFill>
                <a:highlight>
                  <a:srgbClr val="272822"/>
                </a:highlight>
                <a:latin typeface="Courier New"/>
                <a:ea typeface="Courier New"/>
                <a:cs typeface="Courier New"/>
                <a:sym typeface="Courier New"/>
              </a:rPr>
              <a:t>%</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height</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100</a:t>
            </a:r>
            <a:r>
              <a:rPr lang="en" sz="1300">
                <a:solidFill>
                  <a:srgbClr val="F92672"/>
                </a:solidFill>
                <a:highlight>
                  <a:srgbClr val="272822"/>
                </a:highlight>
                <a:latin typeface="Courier New"/>
                <a:ea typeface="Courier New"/>
                <a:cs typeface="Courier New"/>
                <a:sym typeface="Courier New"/>
              </a:rPr>
              <a:t>%</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object-fit</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contain</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style</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head</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body</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img</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src</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"picture.jpg"</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alt</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"Garden"</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This is a garden with a beautiful view. In the middle of the garden we have a cottage and we could take a rest inside. This could be a fun experience to begin with!</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body</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html</a:t>
            </a:r>
            <a:r>
              <a:rPr lang="en" sz="1300">
                <a:solidFill>
                  <a:srgbClr val="F8F8F2"/>
                </a:solidFill>
                <a:highlight>
                  <a:srgbClr val="272822"/>
                </a:highlight>
                <a:latin typeface="Courier New"/>
                <a:ea typeface="Courier New"/>
                <a:cs typeface="Courier New"/>
                <a:sym typeface="Courier New"/>
              </a:rPr>
              <a:t>&gt;</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7"/>
          <p:cNvPicPr preferRelativeResize="0"/>
          <p:nvPr/>
        </p:nvPicPr>
        <p:blipFill rotWithShape="1">
          <a:blip r:embed="rId3">
            <a:alphaModFix/>
          </a:blip>
          <a:srcRect b="0" l="0" r="0" t="0"/>
          <a:stretch/>
        </p:blipFill>
        <p:spPr>
          <a:xfrm>
            <a:off x="152400" y="152400"/>
            <a:ext cx="5148872" cy="48386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8"/>
          <p:cNvSpPr txBox="1"/>
          <p:nvPr>
            <p:ph type="title"/>
          </p:nvPr>
        </p:nvSpPr>
        <p:spPr>
          <a:xfrm>
            <a:off x="311700" y="-12175"/>
            <a:ext cx="8520600" cy="42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49009"/>
              <a:buNone/>
            </a:pPr>
            <a:r>
              <a:rPr lang="en" sz="2020"/>
              <a:t>Example: with viewport</a:t>
            </a:r>
            <a:endParaRPr sz="2020"/>
          </a:p>
        </p:txBody>
      </p:sp>
      <p:sp>
        <p:nvSpPr>
          <p:cNvPr id="101" name="Google Shape;101;p8"/>
          <p:cNvSpPr txBox="1"/>
          <p:nvPr>
            <p:ph idx="1" type="body"/>
          </p:nvPr>
        </p:nvSpPr>
        <p:spPr>
          <a:xfrm>
            <a:off x="72625" y="409325"/>
            <a:ext cx="9019200" cy="4602000"/>
          </a:xfrm>
          <a:prstGeom prst="rect">
            <a:avLst/>
          </a:prstGeom>
          <a:solidFill>
            <a:schemeClr val="dk1"/>
          </a:solid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DOCTYPE</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html</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html</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lang</a:t>
            </a:r>
            <a:r>
              <a:rPr lang="en" sz="1400">
                <a:solidFill>
                  <a:srgbClr val="F8F8F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"en"</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head</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meta</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name</a:t>
            </a:r>
            <a:r>
              <a:rPr lang="en" sz="1400">
                <a:solidFill>
                  <a:srgbClr val="F8F8F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"viewport"</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content</a:t>
            </a:r>
            <a:r>
              <a:rPr lang="en" sz="1400">
                <a:solidFill>
                  <a:srgbClr val="F8F8F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"width=device-width, initial-scale=1.0"</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style</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lang="en" sz="1400">
                <a:solidFill>
                  <a:srgbClr val="F92672"/>
                </a:solidFill>
                <a:highlight>
                  <a:srgbClr val="272822"/>
                </a:highlight>
                <a:latin typeface="Courier New"/>
                <a:ea typeface="Courier New"/>
                <a:cs typeface="Courier New"/>
                <a:sym typeface="Courier New"/>
              </a:rPr>
              <a:t>img</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width</a:t>
            </a:r>
            <a:r>
              <a:rPr lang="en" sz="1400">
                <a:solidFill>
                  <a:srgbClr val="F8F8F2"/>
                </a:solidFill>
                <a:highlight>
                  <a:srgbClr val="272822"/>
                </a:highlight>
                <a:latin typeface="Courier New"/>
                <a:ea typeface="Courier New"/>
                <a:cs typeface="Courier New"/>
                <a:sym typeface="Courier New"/>
              </a:rPr>
              <a:t>: </a:t>
            </a:r>
            <a:r>
              <a:rPr lang="en" sz="1400">
                <a:solidFill>
                  <a:srgbClr val="AE81FF"/>
                </a:solidFill>
                <a:highlight>
                  <a:srgbClr val="272822"/>
                </a:highlight>
                <a:latin typeface="Courier New"/>
                <a:ea typeface="Courier New"/>
                <a:cs typeface="Courier New"/>
                <a:sym typeface="Courier New"/>
              </a:rPr>
              <a:t>50</a:t>
            </a:r>
            <a:r>
              <a:rPr lang="en" sz="1400">
                <a:solidFill>
                  <a:srgbClr val="F92672"/>
                </a:solidFill>
                <a:highlight>
                  <a:srgbClr val="272822"/>
                </a:highlight>
                <a:latin typeface="Courier New"/>
                <a:ea typeface="Courier New"/>
                <a:cs typeface="Courier New"/>
                <a:sym typeface="Courier New"/>
              </a:rPr>
              <a:t>%</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height</a:t>
            </a:r>
            <a:r>
              <a:rPr lang="en" sz="1400">
                <a:solidFill>
                  <a:srgbClr val="F8F8F2"/>
                </a:solidFill>
                <a:highlight>
                  <a:srgbClr val="272822"/>
                </a:highlight>
                <a:latin typeface="Courier New"/>
                <a:ea typeface="Courier New"/>
                <a:cs typeface="Courier New"/>
                <a:sym typeface="Courier New"/>
              </a:rPr>
              <a:t>: </a:t>
            </a:r>
            <a:r>
              <a:rPr lang="en" sz="1400">
                <a:solidFill>
                  <a:srgbClr val="AE81FF"/>
                </a:solidFill>
                <a:highlight>
                  <a:srgbClr val="272822"/>
                </a:highlight>
                <a:latin typeface="Courier New"/>
                <a:ea typeface="Courier New"/>
                <a:cs typeface="Courier New"/>
                <a:sym typeface="Courier New"/>
              </a:rPr>
              <a:t>100</a:t>
            </a:r>
            <a:r>
              <a:rPr lang="en" sz="1400">
                <a:solidFill>
                  <a:srgbClr val="F92672"/>
                </a:solidFill>
                <a:highlight>
                  <a:srgbClr val="272822"/>
                </a:highlight>
                <a:latin typeface="Courier New"/>
                <a:ea typeface="Courier New"/>
                <a:cs typeface="Courier New"/>
                <a:sym typeface="Courier New"/>
              </a:rPr>
              <a:t>%</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object-fit</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contain</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style</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head</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body</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div</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img</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src</a:t>
            </a:r>
            <a:r>
              <a:rPr lang="en" sz="1400">
                <a:solidFill>
                  <a:srgbClr val="F8F8F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"picture.jpg"</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alt</a:t>
            </a:r>
            <a:r>
              <a:rPr lang="en" sz="1400">
                <a:solidFill>
                  <a:srgbClr val="F8F8F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"Garden"</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div</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div</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This is a garden with a beautiful view. In the middle of the garden we have a cottage and we could take a rest inside. This could be a fun experience to begin with!</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&lt;/</a:t>
            </a:r>
            <a:r>
              <a:rPr lang="en" sz="1400">
                <a:solidFill>
                  <a:srgbClr val="F92672"/>
                </a:solidFill>
                <a:highlight>
                  <a:srgbClr val="272822"/>
                </a:highlight>
                <a:latin typeface="Courier New"/>
                <a:ea typeface="Courier New"/>
                <a:cs typeface="Courier New"/>
                <a:sym typeface="Courier New"/>
              </a:rPr>
              <a:t>div</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body</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html</a:t>
            </a:r>
            <a:r>
              <a:rPr lang="en" sz="1400">
                <a:solidFill>
                  <a:srgbClr val="F8F8F2"/>
                </a:solidFill>
                <a:highlight>
                  <a:srgbClr val="272822"/>
                </a:highlight>
                <a:latin typeface="Courier New"/>
                <a:ea typeface="Courier New"/>
                <a:cs typeface="Courier New"/>
                <a:sym typeface="Courier New"/>
              </a:rPr>
              <a:t>&gt;</a:t>
            </a:r>
            <a:endParaRPr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9"/>
          <p:cNvPicPr preferRelativeResize="0"/>
          <p:nvPr/>
        </p:nvPicPr>
        <p:blipFill rotWithShape="1">
          <a:blip r:embed="rId3">
            <a:alphaModFix/>
          </a:blip>
          <a:srcRect b="0" l="0" r="0" t="0"/>
          <a:stretch/>
        </p:blipFill>
        <p:spPr>
          <a:xfrm>
            <a:off x="152400" y="152400"/>
            <a:ext cx="7484580" cy="4838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08cfa3cf1a_0_0"/>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Trick</a:t>
            </a:r>
            <a:endParaRPr/>
          </a:p>
        </p:txBody>
      </p:sp>
      <p:sp>
        <p:nvSpPr>
          <p:cNvPr id="112" name="Google Shape;112;g308cfa3cf1a_0_0"/>
          <p:cNvSpPr txBox="1"/>
          <p:nvPr>
            <p:ph idx="1" type="body"/>
          </p:nvPr>
        </p:nvSpPr>
        <p:spPr>
          <a:xfrm>
            <a:off x="311700" y="466675"/>
            <a:ext cx="8520600" cy="1917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To resize the screen size, we could change the browser window size or use this steps:</a:t>
            </a:r>
            <a:endParaRPr/>
          </a:p>
          <a:p>
            <a:pPr indent="-342900" lvl="0" marL="457200" rtl="0" algn="just">
              <a:lnSpc>
                <a:spcPct val="115000"/>
              </a:lnSpc>
              <a:spcBef>
                <a:spcPts val="1200"/>
              </a:spcBef>
              <a:spcAft>
                <a:spcPts val="0"/>
              </a:spcAft>
              <a:buSzPts val="1800"/>
              <a:buAutoNum type="arabicPeriod"/>
            </a:pPr>
            <a:r>
              <a:rPr lang="en"/>
              <a:t>Right click on the page</a:t>
            </a:r>
            <a:endParaRPr/>
          </a:p>
          <a:p>
            <a:pPr indent="-342900" lvl="0" marL="457200" rtl="0" algn="just">
              <a:lnSpc>
                <a:spcPct val="115000"/>
              </a:lnSpc>
              <a:spcBef>
                <a:spcPts val="0"/>
              </a:spcBef>
              <a:spcAft>
                <a:spcPts val="0"/>
              </a:spcAft>
              <a:buSzPts val="1800"/>
              <a:buAutoNum type="arabicPeriod"/>
            </a:pPr>
            <a:r>
              <a:rPr lang="en"/>
              <a:t>Select Inspect or Inspect Element depending on the browsers</a:t>
            </a:r>
            <a:endParaRPr/>
          </a:p>
          <a:p>
            <a:pPr indent="-342900" lvl="0" marL="457200" rtl="0" algn="just">
              <a:lnSpc>
                <a:spcPct val="115000"/>
              </a:lnSpc>
              <a:spcBef>
                <a:spcPts val="0"/>
              </a:spcBef>
              <a:spcAft>
                <a:spcPts val="0"/>
              </a:spcAft>
              <a:buSzPts val="1800"/>
              <a:buAutoNum type="arabicPeriod"/>
            </a:pPr>
            <a:r>
              <a:rPr lang="en"/>
              <a:t>Click the Responsive Design Mode icon</a:t>
            </a:r>
            <a:endParaRPr/>
          </a:p>
        </p:txBody>
      </p:sp>
      <p:pic>
        <p:nvPicPr>
          <p:cNvPr id="113" name="Google Shape;113;g308cfa3cf1a_0_0"/>
          <p:cNvPicPr preferRelativeResize="0"/>
          <p:nvPr/>
        </p:nvPicPr>
        <p:blipFill rotWithShape="1">
          <a:blip r:embed="rId3">
            <a:alphaModFix/>
          </a:blip>
          <a:srcRect b="0" l="0" r="0" t="18797"/>
          <a:stretch/>
        </p:blipFill>
        <p:spPr>
          <a:xfrm>
            <a:off x="73175" y="2383675"/>
            <a:ext cx="2768574" cy="2541926"/>
          </a:xfrm>
          <a:prstGeom prst="rect">
            <a:avLst/>
          </a:prstGeom>
          <a:noFill/>
          <a:ln>
            <a:noFill/>
          </a:ln>
        </p:spPr>
      </p:pic>
      <p:sp>
        <p:nvSpPr>
          <p:cNvPr id="114" name="Google Shape;114;g308cfa3cf1a_0_0"/>
          <p:cNvSpPr/>
          <p:nvPr/>
        </p:nvSpPr>
        <p:spPr>
          <a:xfrm>
            <a:off x="2330750" y="2330750"/>
            <a:ext cx="244200" cy="2838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5" name="Google Shape;115;g308cfa3cf1a_0_0"/>
          <p:cNvPicPr preferRelativeResize="0"/>
          <p:nvPr/>
        </p:nvPicPr>
        <p:blipFill rotWithShape="1">
          <a:blip r:embed="rId4">
            <a:alphaModFix/>
          </a:blip>
          <a:srcRect b="0" l="0" r="0" t="0"/>
          <a:stretch/>
        </p:blipFill>
        <p:spPr>
          <a:xfrm>
            <a:off x="3162675" y="3383125"/>
            <a:ext cx="5925050" cy="1151250"/>
          </a:xfrm>
          <a:prstGeom prst="rect">
            <a:avLst/>
          </a:prstGeom>
          <a:noFill/>
          <a:ln>
            <a:noFill/>
          </a:ln>
        </p:spPr>
      </p:pic>
      <p:sp>
        <p:nvSpPr>
          <p:cNvPr id="116" name="Google Shape;116;g308cfa3cf1a_0_0"/>
          <p:cNvSpPr/>
          <p:nvPr/>
        </p:nvSpPr>
        <p:spPr>
          <a:xfrm>
            <a:off x="3301350" y="3486225"/>
            <a:ext cx="1333800" cy="6075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08cfa3cf1a_0_0"/>
          <p:cNvSpPr txBox="1"/>
          <p:nvPr/>
        </p:nvSpPr>
        <p:spPr>
          <a:xfrm>
            <a:off x="3545650" y="2753325"/>
            <a:ext cx="38031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NOTE: select the size here</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0"/>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Rules to consider</a:t>
            </a:r>
            <a:endParaRPr/>
          </a:p>
        </p:txBody>
      </p:sp>
      <p:sp>
        <p:nvSpPr>
          <p:cNvPr id="123" name="Google Shape;123;p10"/>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AutoNum type="arabicPeriod"/>
            </a:pPr>
            <a:r>
              <a:rPr lang="en"/>
              <a:t>Never use large fixed width elements</a:t>
            </a:r>
            <a:endParaRPr/>
          </a:p>
          <a:p>
            <a:pPr indent="-342900" lvl="0" marL="457200" rtl="0" algn="just">
              <a:lnSpc>
                <a:spcPct val="115000"/>
              </a:lnSpc>
              <a:spcBef>
                <a:spcPts val="0"/>
              </a:spcBef>
              <a:spcAft>
                <a:spcPts val="0"/>
              </a:spcAft>
              <a:buSzPts val="1800"/>
              <a:buAutoNum type="arabicPeriod"/>
            </a:pPr>
            <a:r>
              <a:rPr lang="en"/>
              <a:t>Never rely on a certain viewport size</a:t>
            </a:r>
            <a:endParaRPr/>
          </a:p>
          <a:p>
            <a:pPr indent="-342900" lvl="0" marL="457200" rtl="0" algn="just">
              <a:lnSpc>
                <a:spcPct val="115000"/>
              </a:lnSpc>
              <a:spcBef>
                <a:spcPts val="0"/>
              </a:spcBef>
              <a:spcAft>
                <a:spcPts val="0"/>
              </a:spcAft>
              <a:buSzPts val="1800"/>
              <a:buAutoNum type="arabicPeriod"/>
            </a:pPr>
            <a:r>
              <a:rPr lang="en"/>
              <a:t>Use CSS media queries to apply different style for small and large screens</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1"/>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CSS Grid View</a:t>
            </a:r>
            <a:endParaRPr/>
          </a:p>
        </p:txBody>
      </p:sp>
      <p:sp>
        <p:nvSpPr>
          <p:cNvPr id="129" name="Google Shape;129;p11"/>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Pages are usually designed as grid view</a:t>
            </a:r>
            <a:endParaRPr/>
          </a:p>
          <a:p>
            <a:pPr indent="-342900" lvl="0" marL="457200" rtl="0" algn="just">
              <a:lnSpc>
                <a:spcPct val="115000"/>
              </a:lnSpc>
              <a:spcBef>
                <a:spcPts val="0"/>
              </a:spcBef>
              <a:spcAft>
                <a:spcPts val="0"/>
              </a:spcAft>
              <a:buSzPts val="1800"/>
              <a:buChar char="-"/>
            </a:pPr>
            <a:r>
              <a:rPr lang="en"/>
              <a:t>The sections of the pages are separated by columns</a:t>
            </a:r>
            <a:endParaRPr/>
          </a:p>
          <a:p>
            <a:pPr indent="-342900" lvl="0" marL="457200" rtl="0" algn="just">
              <a:lnSpc>
                <a:spcPct val="115000"/>
              </a:lnSpc>
              <a:spcBef>
                <a:spcPts val="0"/>
              </a:spcBef>
              <a:spcAft>
                <a:spcPts val="0"/>
              </a:spcAft>
              <a:buSzPts val="1800"/>
              <a:buChar char="-"/>
            </a:pPr>
            <a:r>
              <a:rPr lang="en"/>
              <a:t>Makes it easier to place components on a page</a:t>
            </a:r>
            <a:endParaRPr/>
          </a:p>
          <a:p>
            <a:pPr indent="-342900" lvl="0" marL="457200" rtl="0" algn="just">
              <a:lnSpc>
                <a:spcPct val="115000"/>
              </a:lnSpc>
              <a:spcBef>
                <a:spcPts val="0"/>
              </a:spcBef>
              <a:spcAft>
                <a:spcPts val="0"/>
              </a:spcAft>
              <a:buSzPts val="1800"/>
              <a:buChar char="-"/>
            </a:pPr>
            <a:r>
              <a:rPr lang="en"/>
              <a:t>Responsive grid design has 12 columns in total with the total 100% width*</a:t>
            </a:r>
            <a:endParaRPr/>
          </a:p>
          <a:p>
            <a:pPr indent="0" lvl="0" marL="0" rtl="0" algn="just">
              <a:lnSpc>
                <a:spcPct val="115000"/>
              </a:lnSpc>
              <a:spcBef>
                <a:spcPts val="1200"/>
              </a:spcBef>
              <a:spcAft>
                <a:spcPts val="1200"/>
              </a:spcAft>
              <a:buSzPts val="1800"/>
              <a:buNone/>
            </a:pPr>
            <a:r>
              <a:rPr lang="en"/>
              <a:t>*The reason number 12 is used because it provides flexible number of possibilities such as 1, 2, 3, 4, 6, 12 allowing multitude of design options</a:t>
            </a:r>
            <a:endParaRPr/>
          </a:p>
        </p:txBody>
      </p:sp>
      <p:pic>
        <p:nvPicPr>
          <p:cNvPr id="130" name="Google Shape;130;p11"/>
          <p:cNvPicPr preferRelativeResize="0"/>
          <p:nvPr/>
        </p:nvPicPr>
        <p:blipFill rotWithShape="1">
          <a:blip r:embed="rId3">
            <a:alphaModFix/>
          </a:blip>
          <a:srcRect b="0" l="0" r="0" t="0"/>
          <a:stretch/>
        </p:blipFill>
        <p:spPr>
          <a:xfrm>
            <a:off x="963950" y="3001350"/>
            <a:ext cx="7236552" cy="184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12"/>
          <p:cNvPicPr preferRelativeResize="0"/>
          <p:nvPr/>
        </p:nvPicPr>
        <p:blipFill rotWithShape="1">
          <a:blip r:embed="rId3">
            <a:alphaModFix/>
          </a:blip>
          <a:srcRect b="0" l="0" r="0" t="0"/>
          <a:stretch/>
        </p:blipFill>
        <p:spPr>
          <a:xfrm>
            <a:off x="152400" y="1143000"/>
            <a:ext cx="8839204" cy="3133429"/>
          </a:xfrm>
          <a:prstGeom prst="rect">
            <a:avLst/>
          </a:prstGeom>
          <a:noFill/>
          <a:ln>
            <a:noFill/>
          </a:ln>
        </p:spPr>
      </p:pic>
      <p:sp>
        <p:nvSpPr>
          <p:cNvPr id="136" name="Google Shape;136;p12"/>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CSS Grid View</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Non-Responsive Design and how to countermeasure</a:t>
            </a:r>
            <a:endParaRPr/>
          </a:p>
        </p:txBody>
      </p:sp>
      <p:sp>
        <p:nvSpPr>
          <p:cNvPr id="142" name="Google Shape;142;p13"/>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When we add width, height and padding, the actual calculation is like this:</a:t>
            </a:r>
            <a:endParaRPr/>
          </a:p>
          <a:p>
            <a:pPr indent="-342900" lvl="0" marL="457200" rtl="0" algn="just">
              <a:lnSpc>
                <a:spcPct val="115000"/>
              </a:lnSpc>
              <a:spcBef>
                <a:spcPts val="1200"/>
              </a:spcBef>
              <a:spcAft>
                <a:spcPts val="0"/>
              </a:spcAft>
              <a:buSzPts val="1800"/>
              <a:buAutoNum type="arabicPeriod"/>
            </a:pPr>
            <a:r>
              <a:rPr lang="en"/>
              <a:t>Actual width = width + padding + border</a:t>
            </a:r>
            <a:endParaRPr/>
          </a:p>
          <a:p>
            <a:pPr indent="-342900" lvl="0" marL="457200" rtl="0" algn="just">
              <a:lnSpc>
                <a:spcPct val="115000"/>
              </a:lnSpc>
              <a:spcBef>
                <a:spcPts val="0"/>
              </a:spcBef>
              <a:spcAft>
                <a:spcPts val="0"/>
              </a:spcAft>
              <a:buSzPts val="1800"/>
              <a:buAutoNum type="arabicPeriod"/>
            </a:pPr>
            <a:r>
              <a:rPr lang="en"/>
              <a:t>Actual height = height + padding + border</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SzPts val="1800"/>
              <a:buNone/>
            </a:pPr>
            <a:r>
              <a:rPr lang="en"/>
              <a:t>To countermeasure this, we could use </a:t>
            </a:r>
            <a:r>
              <a:rPr lang="en">
                <a:solidFill>
                  <a:srgbClr val="3C78D8"/>
                </a:solidFill>
                <a:latin typeface="Source Code Pro"/>
                <a:ea typeface="Source Code Pro"/>
                <a:cs typeface="Source Code Pro"/>
                <a:sym typeface="Source Code Pro"/>
              </a:rPr>
              <a:t>box-sizing</a:t>
            </a:r>
            <a:r>
              <a:rPr lang="en"/>
              <a:t> property and set the value to </a:t>
            </a:r>
            <a:r>
              <a:rPr lang="en">
                <a:solidFill>
                  <a:srgbClr val="3C78D8"/>
                </a:solidFill>
                <a:latin typeface="Source Code Pro"/>
                <a:ea typeface="Source Code Pro"/>
                <a:cs typeface="Source Code Pro"/>
                <a:sym typeface="Source Code Pro"/>
              </a:rPr>
              <a:t>border-box</a:t>
            </a:r>
            <a:endParaRPr>
              <a:solidFill>
                <a:srgbClr val="3C78D8"/>
              </a:solidFill>
              <a:latin typeface="Source Code Pro"/>
              <a:ea typeface="Source Code Pro"/>
              <a:cs typeface="Source Code Pro"/>
              <a:sym typeface="Source Code Pro"/>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4"/>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of not using border-box</a:t>
            </a:r>
            <a:endParaRPr/>
          </a:p>
        </p:txBody>
      </p:sp>
      <p:sp>
        <p:nvSpPr>
          <p:cNvPr id="148" name="Google Shape;148;p14"/>
          <p:cNvSpPr txBox="1"/>
          <p:nvPr>
            <p:ph idx="1" type="body"/>
          </p:nvPr>
        </p:nvSpPr>
        <p:spPr>
          <a:xfrm>
            <a:off x="72625" y="557650"/>
            <a:ext cx="9019200" cy="45198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head</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style</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A6E22E"/>
                </a:solidFill>
                <a:highlight>
                  <a:srgbClr val="272822"/>
                </a:highlight>
                <a:latin typeface="Courier New"/>
                <a:ea typeface="Courier New"/>
                <a:cs typeface="Courier New"/>
                <a:sym typeface="Courier New"/>
              </a:rPr>
              <a:t>  .div1</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width</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300</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height</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100</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border</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solid</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blue</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A6E22E"/>
                </a:solidFill>
                <a:highlight>
                  <a:srgbClr val="272822"/>
                </a:highlight>
                <a:latin typeface="Courier New"/>
                <a:ea typeface="Courier New"/>
                <a:cs typeface="Courier New"/>
                <a:sym typeface="Courier New"/>
              </a:rPr>
              <a:t>  .div2</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width</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300</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height</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100</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padding</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50</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border</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solid</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red</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style</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head</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body</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h1</a:t>
            </a:r>
            <a:r>
              <a:rPr lang="en" sz="1300">
                <a:solidFill>
                  <a:srgbClr val="F8F8F2"/>
                </a:solidFill>
                <a:highlight>
                  <a:srgbClr val="272822"/>
                </a:highlight>
                <a:latin typeface="Courier New"/>
                <a:ea typeface="Courier New"/>
                <a:cs typeface="Courier New"/>
                <a:sym typeface="Courier New"/>
              </a:rPr>
              <a:t>&gt;Without box-sizing&lt;/</a:t>
            </a:r>
            <a:r>
              <a:rPr lang="en" sz="1300">
                <a:solidFill>
                  <a:srgbClr val="F92672"/>
                </a:solidFill>
                <a:highlight>
                  <a:srgbClr val="272822"/>
                </a:highlight>
                <a:latin typeface="Courier New"/>
                <a:ea typeface="Courier New"/>
                <a:cs typeface="Courier New"/>
                <a:sym typeface="Courier New"/>
              </a:rPr>
              <a:t>h1</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"div1"</a:t>
            </a:r>
            <a:r>
              <a:rPr lang="en" sz="1300">
                <a:solidFill>
                  <a:srgbClr val="F8F8F2"/>
                </a:solidFill>
                <a:highlight>
                  <a:srgbClr val="272822"/>
                </a:highlight>
                <a:latin typeface="Courier New"/>
                <a:ea typeface="Courier New"/>
                <a:cs typeface="Courier New"/>
                <a:sym typeface="Courier New"/>
              </a:rPr>
              <a:t>&gt;This div is smaller (width is 300px and height is 100px).&lt;/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br/</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"div2"</a:t>
            </a:r>
            <a:r>
              <a:rPr lang="en" sz="1300">
                <a:solidFill>
                  <a:srgbClr val="F8F8F2"/>
                </a:solidFill>
                <a:highlight>
                  <a:srgbClr val="272822"/>
                </a:highlight>
                <a:latin typeface="Courier New"/>
                <a:ea typeface="Courier New"/>
                <a:cs typeface="Courier New"/>
                <a:sym typeface="Courier New"/>
              </a:rPr>
              <a:t>&gt;This div is bigger (width is also 300px and height is 100px).&lt;/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body</a:t>
            </a:r>
            <a:r>
              <a:rPr lang="en" sz="1300">
                <a:solidFill>
                  <a:srgbClr val="F8F8F2"/>
                </a:solidFill>
                <a:highlight>
                  <a:srgbClr val="272822"/>
                </a:highlight>
                <a:latin typeface="Courier New"/>
                <a:ea typeface="Courier New"/>
                <a:cs typeface="Courier New"/>
                <a:sym typeface="Courier New"/>
              </a:rPr>
              <a:t>&gt;</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Same width and height but why different?</a:t>
            </a:r>
            <a:endParaRPr/>
          </a:p>
        </p:txBody>
      </p:sp>
      <p:pic>
        <p:nvPicPr>
          <p:cNvPr id="154" name="Google Shape;154;p15"/>
          <p:cNvPicPr preferRelativeResize="0"/>
          <p:nvPr/>
        </p:nvPicPr>
        <p:blipFill rotWithShape="1">
          <a:blip r:embed="rId3">
            <a:alphaModFix/>
          </a:blip>
          <a:srcRect b="0" l="0" r="0" t="0"/>
          <a:stretch/>
        </p:blipFill>
        <p:spPr>
          <a:xfrm>
            <a:off x="152400" y="712925"/>
            <a:ext cx="4549473" cy="4278174"/>
          </a:xfrm>
          <a:prstGeom prst="rect">
            <a:avLst/>
          </a:prstGeom>
          <a:noFill/>
          <a:ln>
            <a:noFill/>
          </a:ln>
        </p:spPr>
      </p:pic>
      <p:sp>
        <p:nvSpPr>
          <p:cNvPr id="155" name="Google Shape;155;p15"/>
          <p:cNvSpPr txBox="1"/>
          <p:nvPr/>
        </p:nvSpPr>
        <p:spPr>
          <a:xfrm>
            <a:off x="4621875" y="2192100"/>
            <a:ext cx="38031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Note:</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Actual width = padding + width + border</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 50px * 2 + 300px + 1px * 2</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 100px + 300px + 2px</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 402 px</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Actual height = padding + height + border</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 50px * 2 + 100px + 1px * 2</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 100px + 100px + 2px</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 202 px</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With box-sizing</a:t>
            </a:r>
            <a:endParaRPr/>
          </a:p>
        </p:txBody>
      </p:sp>
      <p:sp>
        <p:nvSpPr>
          <p:cNvPr id="161" name="Google Shape;161;p16"/>
          <p:cNvSpPr txBox="1"/>
          <p:nvPr>
            <p:ph idx="1" type="body"/>
          </p:nvPr>
        </p:nvSpPr>
        <p:spPr>
          <a:xfrm>
            <a:off x="72625" y="633850"/>
            <a:ext cx="9019200" cy="43776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&lt;</a:t>
            </a:r>
            <a:r>
              <a:rPr lang="en" sz="1200">
                <a:solidFill>
                  <a:srgbClr val="F92672"/>
                </a:solidFill>
                <a:highlight>
                  <a:srgbClr val="272822"/>
                </a:highlight>
                <a:latin typeface="Courier New"/>
                <a:ea typeface="Courier New"/>
                <a:cs typeface="Courier New"/>
                <a:sym typeface="Courier New"/>
              </a:rPr>
              <a:t>head</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&lt;</a:t>
            </a:r>
            <a:r>
              <a:rPr lang="en" sz="1200">
                <a:solidFill>
                  <a:srgbClr val="F92672"/>
                </a:solidFill>
                <a:highlight>
                  <a:srgbClr val="272822"/>
                </a:highlight>
                <a:latin typeface="Courier New"/>
                <a:ea typeface="Courier New"/>
                <a:cs typeface="Courier New"/>
                <a:sym typeface="Courier New"/>
              </a:rPr>
              <a:t>style</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lang="en" sz="1200">
                <a:solidFill>
                  <a:srgbClr val="A6E22E"/>
                </a:solidFill>
                <a:highlight>
                  <a:srgbClr val="272822"/>
                </a:highlight>
                <a:latin typeface="Courier New"/>
                <a:ea typeface="Courier New"/>
                <a:cs typeface="Courier New"/>
                <a:sym typeface="Courier New"/>
              </a:rPr>
              <a:t>.div1</a:t>
            </a:r>
            <a:r>
              <a:rPr lang="en" sz="1200">
                <a:solidFill>
                  <a:srgbClr val="F8F8F2"/>
                </a:solidFill>
                <a:highlight>
                  <a:srgbClr val="272822"/>
                </a:highlight>
                <a:latin typeface="Courier New"/>
                <a:ea typeface="Courier New"/>
                <a:cs typeface="Courier New"/>
                <a:sym typeface="Courier New"/>
              </a:rPr>
              <a:t> {</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width</a:t>
            </a:r>
            <a:r>
              <a:rPr lang="en" sz="1200">
                <a:solidFill>
                  <a:srgbClr val="F8F8F2"/>
                </a:solidFill>
                <a:highlight>
                  <a:srgbClr val="272822"/>
                </a:highlight>
                <a:latin typeface="Courier New"/>
                <a:ea typeface="Courier New"/>
                <a:cs typeface="Courier New"/>
                <a:sym typeface="Courier New"/>
              </a:rPr>
              <a:t>: </a:t>
            </a:r>
            <a:r>
              <a:rPr lang="en" sz="1200">
                <a:solidFill>
                  <a:srgbClr val="AE81FF"/>
                </a:solidFill>
                <a:highlight>
                  <a:srgbClr val="272822"/>
                </a:highlight>
                <a:latin typeface="Courier New"/>
                <a:ea typeface="Courier New"/>
                <a:cs typeface="Courier New"/>
                <a:sym typeface="Courier New"/>
              </a:rPr>
              <a:t>300</a:t>
            </a:r>
            <a:r>
              <a:rPr lang="en" sz="1200">
                <a:solidFill>
                  <a:srgbClr val="F92672"/>
                </a:solidFill>
                <a:highlight>
                  <a:srgbClr val="272822"/>
                </a:highlight>
                <a:latin typeface="Courier New"/>
                <a:ea typeface="Courier New"/>
                <a:cs typeface="Courier New"/>
                <a:sym typeface="Courier New"/>
              </a:rPr>
              <a:t>px</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height</a:t>
            </a:r>
            <a:r>
              <a:rPr lang="en" sz="1200">
                <a:solidFill>
                  <a:srgbClr val="F8F8F2"/>
                </a:solidFill>
                <a:highlight>
                  <a:srgbClr val="272822"/>
                </a:highlight>
                <a:latin typeface="Courier New"/>
                <a:ea typeface="Courier New"/>
                <a:cs typeface="Courier New"/>
                <a:sym typeface="Courier New"/>
              </a:rPr>
              <a:t>: </a:t>
            </a:r>
            <a:r>
              <a:rPr lang="en" sz="1200">
                <a:solidFill>
                  <a:srgbClr val="AE81FF"/>
                </a:solidFill>
                <a:highlight>
                  <a:srgbClr val="272822"/>
                </a:highlight>
                <a:latin typeface="Courier New"/>
                <a:ea typeface="Courier New"/>
                <a:cs typeface="Courier New"/>
                <a:sym typeface="Courier New"/>
              </a:rPr>
              <a:t>100</a:t>
            </a:r>
            <a:r>
              <a:rPr lang="en" sz="1200">
                <a:solidFill>
                  <a:srgbClr val="F92672"/>
                </a:solidFill>
                <a:highlight>
                  <a:srgbClr val="272822"/>
                </a:highlight>
                <a:latin typeface="Courier New"/>
                <a:ea typeface="Courier New"/>
                <a:cs typeface="Courier New"/>
                <a:sym typeface="Courier New"/>
              </a:rPr>
              <a:t>px</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border</a:t>
            </a:r>
            <a:r>
              <a:rPr lang="en" sz="1200">
                <a:solidFill>
                  <a:srgbClr val="F8F8F2"/>
                </a:solidFill>
                <a:highlight>
                  <a:srgbClr val="272822"/>
                </a:highlight>
                <a:latin typeface="Courier New"/>
                <a:ea typeface="Courier New"/>
                <a:cs typeface="Courier New"/>
                <a:sym typeface="Courier New"/>
              </a:rPr>
              <a:t>: </a:t>
            </a:r>
            <a:r>
              <a:rPr lang="en" sz="1200">
                <a:solidFill>
                  <a:srgbClr val="AE81FF"/>
                </a:solidFill>
                <a:highlight>
                  <a:srgbClr val="272822"/>
                </a:highlight>
                <a:latin typeface="Courier New"/>
                <a:ea typeface="Courier New"/>
                <a:cs typeface="Courier New"/>
                <a:sym typeface="Courier New"/>
              </a:rPr>
              <a:t>1</a:t>
            </a:r>
            <a:r>
              <a:rPr lang="en" sz="1200">
                <a:solidFill>
                  <a:srgbClr val="F92672"/>
                </a:solidFill>
                <a:highlight>
                  <a:srgbClr val="272822"/>
                </a:highlight>
                <a:latin typeface="Courier New"/>
                <a:ea typeface="Courier New"/>
                <a:cs typeface="Courier New"/>
                <a:sym typeface="Courier New"/>
              </a:rPr>
              <a:t>px</a:t>
            </a:r>
            <a:r>
              <a:rPr lang="en" sz="1200">
                <a:solidFill>
                  <a:srgbClr val="F8F8F2"/>
                </a:solidFill>
                <a:highlight>
                  <a:srgbClr val="272822"/>
                </a:highlight>
                <a:latin typeface="Courier New"/>
                <a:ea typeface="Courier New"/>
                <a:cs typeface="Courier New"/>
                <a:sym typeface="Courier New"/>
              </a:rPr>
              <a:t> </a:t>
            </a:r>
            <a:r>
              <a:rPr lang="en" sz="1200">
                <a:solidFill>
                  <a:srgbClr val="66D9EF"/>
                </a:solidFill>
                <a:highlight>
                  <a:srgbClr val="272822"/>
                </a:highlight>
                <a:latin typeface="Courier New"/>
                <a:ea typeface="Courier New"/>
                <a:cs typeface="Courier New"/>
                <a:sym typeface="Courier New"/>
              </a:rPr>
              <a:t>solid</a:t>
            </a:r>
            <a:r>
              <a:rPr lang="en" sz="1200">
                <a:solidFill>
                  <a:srgbClr val="F8F8F2"/>
                </a:solidFill>
                <a:highlight>
                  <a:srgbClr val="272822"/>
                </a:highlight>
                <a:latin typeface="Courier New"/>
                <a:ea typeface="Courier New"/>
                <a:cs typeface="Courier New"/>
                <a:sym typeface="Courier New"/>
              </a:rPr>
              <a:t> </a:t>
            </a:r>
            <a:r>
              <a:rPr lang="en" sz="1200">
                <a:solidFill>
                  <a:srgbClr val="66D9EF"/>
                </a:solidFill>
                <a:highlight>
                  <a:srgbClr val="272822"/>
                </a:highlight>
                <a:latin typeface="Courier New"/>
                <a:ea typeface="Courier New"/>
                <a:cs typeface="Courier New"/>
                <a:sym typeface="Courier New"/>
              </a:rPr>
              <a:t>blue</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box-sizing</a:t>
            </a:r>
            <a:r>
              <a:rPr lang="en" sz="1200">
                <a:solidFill>
                  <a:srgbClr val="F8F8F2"/>
                </a:solidFill>
                <a:highlight>
                  <a:srgbClr val="272822"/>
                </a:highlight>
                <a:latin typeface="Courier New"/>
                <a:ea typeface="Courier New"/>
                <a:cs typeface="Courier New"/>
                <a:sym typeface="Courier New"/>
              </a:rPr>
              <a:t>: </a:t>
            </a:r>
            <a:r>
              <a:rPr lang="en" sz="1200">
                <a:solidFill>
                  <a:srgbClr val="66D9EF"/>
                </a:solidFill>
                <a:highlight>
                  <a:srgbClr val="272822"/>
                </a:highlight>
                <a:latin typeface="Courier New"/>
                <a:ea typeface="Courier New"/>
                <a:cs typeface="Courier New"/>
                <a:sym typeface="Courier New"/>
              </a:rPr>
              <a:t>border-box</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lang="en" sz="1200">
                <a:solidFill>
                  <a:srgbClr val="A6E22E"/>
                </a:solidFill>
                <a:highlight>
                  <a:srgbClr val="272822"/>
                </a:highlight>
                <a:latin typeface="Courier New"/>
                <a:ea typeface="Courier New"/>
                <a:cs typeface="Courier New"/>
                <a:sym typeface="Courier New"/>
              </a:rPr>
              <a:t>.div2</a:t>
            </a:r>
            <a:r>
              <a:rPr lang="en" sz="1200">
                <a:solidFill>
                  <a:srgbClr val="F8F8F2"/>
                </a:solidFill>
                <a:highlight>
                  <a:srgbClr val="272822"/>
                </a:highlight>
                <a:latin typeface="Courier New"/>
                <a:ea typeface="Courier New"/>
                <a:cs typeface="Courier New"/>
                <a:sym typeface="Courier New"/>
              </a:rPr>
              <a:t> {</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width</a:t>
            </a:r>
            <a:r>
              <a:rPr lang="en" sz="1200">
                <a:solidFill>
                  <a:srgbClr val="F8F8F2"/>
                </a:solidFill>
                <a:highlight>
                  <a:srgbClr val="272822"/>
                </a:highlight>
                <a:latin typeface="Courier New"/>
                <a:ea typeface="Courier New"/>
                <a:cs typeface="Courier New"/>
                <a:sym typeface="Courier New"/>
              </a:rPr>
              <a:t>: </a:t>
            </a:r>
            <a:r>
              <a:rPr lang="en" sz="1200">
                <a:solidFill>
                  <a:srgbClr val="AE81FF"/>
                </a:solidFill>
                <a:highlight>
                  <a:srgbClr val="272822"/>
                </a:highlight>
                <a:latin typeface="Courier New"/>
                <a:ea typeface="Courier New"/>
                <a:cs typeface="Courier New"/>
                <a:sym typeface="Courier New"/>
              </a:rPr>
              <a:t>300</a:t>
            </a:r>
            <a:r>
              <a:rPr lang="en" sz="1200">
                <a:solidFill>
                  <a:srgbClr val="F92672"/>
                </a:solidFill>
                <a:highlight>
                  <a:srgbClr val="272822"/>
                </a:highlight>
                <a:latin typeface="Courier New"/>
                <a:ea typeface="Courier New"/>
                <a:cs typeface="Courier New"/>
                <a:sym typeface="Courier New"/>
              </a:rPr>
              <a:t>px</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height</a:t>
            </a:r>
            <a:r>
              <a:rPr lang="en" sz="1200">
                <a:solidFill>
                  <a:srgbClr val="F8F8F2"/>
                </a:solidFill>
                <a:highlight>
                  <a:srgbClr val="272822"/>
                </a:highlight>
                <a:latin typeface="Courier New"/>
                <a:ea typeface="Courier New"/>
                <a:cs typeface="Courier New"/>
                <a:sym typeface="Courier New"/>
              </a:rPr>
              <a:t>: </a:t>
            </a:r>
            <a:r>
              <a:rPr lang="en" sz="1200">
                <a:solidFill>
                  <a:srgbClr val="AE81FF"/>
                </a:solidFill>
                <a:highlight>
                  <a:srgbClr val="272822"/>
                </a:highlight>
                <a:latin typeface="Courier New"/>
                <a:ea typeface="Courier New"/>
                <a:cs typeface="Courier New"/>
                <a:sym typeface="Courier New"/>
              </a:rPr>
              <a:t>100</a:t>
            </a:r>
            <a:r>
              <a:rPr lang="en" sz="1200">
                <a:solidFill>
                  <a:srgbClr val="F92672"/>
                </a:solidFill>
                <a:highlight>
                  <a:srgbClr val="272822"/>
                </a:highlight>
                <a:latin typeface="Courier New"/>
                <a:ea typeface="Courier New"/>
                <a:cs typeface="Courier New"/>
                <a:sym typeface="Courier New"/>
              </a:rPr>
              <a:t>px</a:t>
            </a:r>
            <a:r>
              <a:rPr lang="en" sz="1200">
                <a:solidFill>
                  <a:srgbClr val="F8F8F2"/>
                </a:solidFill>
                <a:highlight>
                  <a:srgbClr val="272822"/>
                </a:highlight>
                <a:latin typeface="Courier New"/>
                <a:ea typeface="Courier New"/>
                <a:cs typeface="Courier New"/>
                <a:sym typeface="Courier New"/>
              </a:rPr>
              <a:t>; </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padding</a:t>
            </a:r>
            <a:r>
              <a:rPr lang="en" sz="1200">
                <a:solidFill>
                  <a:srgbClr val="F8F8F2"/>
                </a:solidFill>
                <a:highlight>
                  <a:srgbClr val="272822"/>
                </a:highlight>
                <a:latin typeface="Courier New"/>
                <a:ea typeface="Courier New"/>
                <a:cs typeface="Courier New"/>
                <a:sym typeface="Courier New"/>
              </a:rPr>
              <a:t>: </a:t>
            </a:r>
            <a:r>
              <a:rPr lang="en" sz="1200">
                <a:solidFill>
                  <a:srgbClr val="AE81FF"/>
                </a:solidFill>
                <a:highlight>
                  <a:srgbClr val="272822"/>
                </a:highlight>
                <a:latin typeface="Courier New"/>
                <a:ea typeface="Courier New"/>
                <a:cs typeface="Courier New"/>
                <a:sym typeface="Courier New"/>
              </a:rPr>
              <a:t>50</a:t>
            </a:r>
            <a:r>
              <a:rPr lang="en" sz="1200">
                <a:solidFill>
                  <a:srgbClr val="F92672"/>
                </a:solidFill>
                <a:highlight>
                  <a:srgbClr val="272822"/>
                </a:highlight>
                <a:latin typeface="Courier New"/>
                <a:ea typeface="Courier New"/>
                <a:cs typeface="Courier New"/>
                <a:sym typeface="Courier New"/>
              </a:rPr>
              <a:t>px</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border</a:t>
            </a:r>
            <a:r>
              <a:rPr lang="en" sz="1200">
                <a:solidFill>
                  <a:srgbClr val="F8F8F2"/>
                </a:solidFill>
                <a:highlight>
                  <a:srgbClr val="272822"/>
                </a:highlight>
                <a:latin typeface="Courier New"/>
                <a:ea typeface="Courier New"/>
                <a:cs typeface="Courier New"/>
                <a:sym typeface="Courier New"/>
              </a:rPr>
              <a:t>: </a:t>
            </a:r>
            <a:r>
              <a:rPr lang="en" sz="1200">
                <a:solidFill>
                  <a:srgbClr val="AE81FF"/>
                </a:solidFill>
                <a:highlight>
                  <a:srgbClr val="272822"/>
                </a:highlight>
                <a:latin typeface="Courier New"/>
                <a:ea typeface="Courier New"/>
                <a:cs typeface="Courier New"/>
                <a:sym typeface="Courier New"/>
              </a:rPr>
              <a:t>1</a:t>
            </a:r>
            <a:r>
              <a:rPr lang="en" sz="1200">
                <a:solidFill>
                  <a:srgbClr val="F92672"/>
                </a:solidFill>
                <a:highlight>
                  <a:srgbClr val="272822"/>
                </a:highlight>
                <a:latin typeface="Courier New"/>
                <a:ea typeface="Courier New"/>
                <a:cs typeface="Courier New"/>
                <a:sym typeface="Courier New"/>
              </a:rPr>
              <a:t>px</a:t>
            </a:r>
            <a:r>
              <a:rPr lang="en" sz="1200">
                <a:solidFill>
                  <a:srgbClr val="F8F8F2"/>
                </a:solidFill>
                <a:highlight>
                  <a:srgbClr val="272822"/>
                </a:highlight>
                <a:latin typeface="Courier New"/>
                <a:ea typeface="Courier New"/>
                <a:cs typeface="Courier New"/>
                <a:sym typeface="Courier New"/>
              </a:rPr>
              <a:t> </a:t>
            </a:r>
            <a:r>
              <a:rPr lang="en" sz="1200">
                <a:solidFill>
                  <a:srgbClr val="66D9EF"/>
                </a:solidFill>
                <a:highlight>
                  <a:srgbClr val="272822"/>
                </a:highlight>
                <a:latin typeface="Courier New"/>
                <a:ea typeface="Courier New"/>
                <a:cs typeface="Courier New"/>
                <a:sym typeface="Courier New"/>
              </a:rPr>
              <a:t>solid</a:t>
            </a:r>
            <a:r>
              <a:rPr lang="en" sz="1200">
                <a:solidFill>
                  <a:srgbClr val="F8F8F2"/>
                </a:solidFill>
                <a:highlight>
                  <a:srgbClr val="272822"/>
                </a:highlight>
                <a:latin typeface="Courier New"/>
                <a:ea typeface="Courier New"/>
                <a:cs typeface="Courier New"/>
                <a:sym typeface="Courier New"/>
              </a:rPr>
              <a:t> </a:t>
            </a:r>
            <a:r>
              <a:rPr lang="en" sz="1200">
                <a:solidFill>
                  <a:srgbClr val="66D9EF"/>
                </a:solidFill>
                <a:highlight>
                  <a:srgbClr val="272822"/>
                </a:highlight>
                <a:latin typeface="Courier New"/>
                <a:ea typeface="Courier New"/>
                <a:cs typeface="Courier New"/>
                <a:sym typeface="Courier New"/>
              </a:rPr>
              <a:t>red</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r>
              <a:rPr i="1" lang="en" sz="1200">
                <a:solidFill>
                  <a:srgbClr val="66D9EF"/>
                </a:solidFill>
                <a:highlight>
                  <a:srgbClr val="272822"/>
                </a:highlight>
                <a:latin typeface="Courier New"/>
                <a:ea typeface="Courier New"/>
                <a:cs typeface="Courier New"/>
                <a:sym typeface="Courier New"/>
              </a:rPr>
              <a:t>box-sizing</a:t>
            </a:r>
            <a:r>
              <a:rPr lang="en" sz="1200">
                <a:solidFill>
                  <a:srgbClr val="F8F8F2"/>
                </a:solidFill>
                <a:highlight>
                  <a:srgbClr val="272822"/>
                </a:highlight>
                <a:latin typeface="Courier New"/>
                <a:ea typeface="Courier New"/>
                <a:cs typeface="Courier New"/>
                <a:sym typeface="Courier New"/>
              </a:rPr>
              <a:t>: </a:t>
            </a:r>
            <a:r>
              <a:rPr lang="en" sz="1200">
                <a:solidFill>
                  <a:srgbClr val="66D9EF"/>
                </a:solidFill>
                <a:highlight>
                  <a:srgbClr val="272822"/>
                </a:highlight>
                <a:latin typeface="Courier New"/>
                <a:ea typeface="Courier New"/>
                <a:cs typeface="Courier New"/>
                <a:sym typeface="Courier New"/>
              </a:rPr>
              <a:t>border-box</a:t>
            </a:r>
            <a:r>
              <a:rPr lang="en" sz="1200">
                <a:solidFill>
                  <a:srgbClr val="F8F8F2"/>
                </a:solidFill>
                <a:highlight>
                  <a:srgbClr val="272822"/>
                </a:highlight>
                <a:latin typeface="Courier New"/>
                <a:ea typeface="Courier New"/>
                <a:cs typeface="Courier New"/>
                <a:sym typeface="Courier New"/>
              </a:rPr>
              <a: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&lt;/</a:t>
            </a:r>
            <a:r>
              <a:rPr lang="en" sz="1200">
                <a:solidFill>
                  <a:srgbClr val="F92672"/>
                </a:solidFill>
                <a:highlight>
                  <a:srgbClr val="272822"/>
                </a:highlight>
                <a:latin typeface="Courier New"/>
                <a:ea typeface="Courier New"/>
                <a:cs typeface="Courier New"/>
                <a:sym typeface="Courier New"/>
              </a:rPr>
              <a:t>style</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&lt;/</a:t>
            </a:r>
            <a:r>
              <a:rPr lang="en" sz="1200">
                <a:solidFill>
                  <a:srgbClr val="F92672"/>
                </a:solidFill>
                <a:highlight>
                  <a:srgbClr val="272822"/>
                </a:highlight>
                <a:latin typeface="Courier New"/>
                <a:ea typeface="Courier New"/>
                <a:cs typeface="Courier New"/>
                <a:sym typeface="Courier New"/>
              </a:rPr>
              <a:t>head</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&lt;</a:t>
            </a:r>
            <a:r>
              <a:rPr lang="en" sz="1200">
                <a:solidFill>
                  <a:srgbClr val="F92672"/>
                </a:solidFill>
                <a:highlight>
                  <a:srgbClr val="272822"/>
                </a:highlight>
                <a:latin typeface="Courier New"/>
                <a:ea typeface="Courier New"/>
                <a:cs typeface="Courier New"/>
                <a:sym typeface="Courier New"/>
              </a:rPr>
              <a:t>body</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&lt;</a:t>
            </a:r>
            <a:r>
              <a:rPr lang="en" sz="1200">
                <a:solidFill>
                  <a:srgbClr val="F92672"/>
                </a:solidFill>
                <a:highlight>
                  <a:srgbClr val="272822"/>
                </a:highlight>
                <a:latin typeface="Courier New"/>
                <a:ea typeface="Courier New"/>
                <a:cs typeface="Courier New"/>
                <a:sym typeface="Courier New"/>
              </a:rPr>
              <a:t>h1</a:t>
            </a:r>
            <a:r>
              <a:rPr lang="en" sz="1200">
                <a:solidFill>
                  <a:srgbClr val="F8F8F2"/>
                </a:solidFill>
                <a:highlight>
                  <a:srgbClr val="272822"/>
                </a:highlight>
                <a:latin typeface="Courier New"/>
                <a:ea typeface="Courier New"/>
                <a:cs typeface="Courier New"/>
                <a:sym typeface="Courier New"/>
              </a:rPr>
              <a:t>&gt;With box-sizing&lt;/</a:t>
            </a:r>
            <a:r>
              <a:rPr lang="en" sz="1200">
                <a:solidFill>
                  <a:srgbClr val="F92672"/>
                </a:solidFill>
                <a:highlight>
                  <a:srgbClr val="272822"/>
                </a:highlight>
                <a:latin typeface="Courier New"/>
                <a:ea typeface="Courier New"/>
                <a:cs typeface="Courier New"/>
                <a:sym typeface="Courier New"/>
              </a:rPr>
              <a:t>h1</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&lt;</a:t>
            </a:r>
            <a:r>
              <a:rPr lang="en" sz="1200">
                <a:solidFill>
                  <a:srgbClr val="F92672"/>
                </a:solidFill>
                <a:highlight>
                  <a:srgbClr val="272822"/>
                </a:highlight>
                <a:latin typeface="Courier New"/>
                <a:ea typeface="Courier New"/>
                <a:cs typeface="Courier New"/>
                <a:sym typeface="Courier New"/>
              </a:rPr>
              <a:t>div</a:t>
            </a:r>
            <a:r>
              <a:rPr lang="en" sz="1200">
                <a:solidFill>
                  <a:srgbClr val="F8F8F2"/>
                </a:solidFill>
                <a:highlight>
                  <a:srgbClr val="272822"/>
                </a:highlight>
                <a:latin typeface="Courier New"/>
                <a:ea typeface="Courier New"/>
                <a:cs typeface="Courier New"/>
                <a:sym typeface="Courier New"/>
              </a:rPr>
              <a:t> </a:t>
            </a:r>
            <a:r>
              <a:rPr lang="en" sz="1200">
                <a:solidFill>
                  <a:srgbClr val="A6E22E"/>
                </a:solidFill>
                <a:highlight>
                  <a:srgbClr val="272822"/>
                </a:highlight>
                <a:latin typeface="Courier New"/>
                <a:ea typeface="Courier New"/>
                <a:cs typeface="Courier New"/>
                <a:sym typeface="Courier New"/>
              </a:rPr>
              <a:t>class</a:t>
            </a:r>
            <a:r>
              <a:rPr lang="en" sz="1200">
                <a:solidFill>
                  <a:srgbClr val="F8F8F2"/>
                </a:solidFill>
                <a:highlight>
                  <a:srgbClr val="272822"/>
                </a:highlight>
                <a:latin typeface="Courier New"/>
                <a:ea typeface="Courier New"/>
                <a:cs typeface="Courier New"/>
                <a:sym typeface="Courier New"/>
              </a:rPr>
              <a:t>=</a:t>
            </a:r>
            <a:r>
              <a:rPr lang="en" sz="1200">
                <a:solidFill>
                  <a:srgbClr val="E6DB74"/>
                </a:solidFill>
                <a:highlight>
                  <a:srgbClr val="272822"/>
                </a:highlight>
                <a:latin typeface="Courier New"/>
                <a:ea typeface="Courier New"/>
                <a:cs typeface="Courier New"/>
                <a:sym typeface="Courier New"/>
              </a:rPr>
              <a:t>"div1"</a:t>
            </a:r>
            <a:r>
              <a:rPr lang="en" sz="1200">
                <a:solidFill>
                  <a:srgbClr val="F8F8F2"/>
                </a:solidFill>
                <a:highlight>
                  <a:srgbClr val="272822"/>
                </a:highlight>
                <a:latin typeface="Courier New"/>
                <a:ea typeface="Courier New"/>
                <a:cs typeface="Courier New"/>
                <a:sym typeface="Courier New"/>
              </a:rPr>
              <a:t>&gt;Both divs are the same size now!&lt;/</a:t>
            </a:r>
            <a:r>
              <a:rPr lang="en" sz="1200">
                <a:solidFill>
                  <a:srgbClr val="F92672"/>
                </a:solidFill>
                <a:highlight>
                  <a:srgbClr val="272822"/>
                </a:highlight>
                <a:latin typeface="Courier New"/>
                <a:ea typeface="Courier New"/>
                <a:cs typeface="Courier New"/>
                <a:sym typeface="Courier New"/>
              </a:rPr>
              <a:t>div</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&lt;</a:t>
            </a:r>
            <a:r>
              <a:rPr lang="en" sz="1200">
                <a:solidFill>
                  <a:srgbClr val="F92672"/>
                </a:solidFill>
                <a:highlight>
                  <a:srgbClr val="272822"/>
                </a:highlight>
                <a:latin typeface="Courier New"/>
                <a:ea typeface="Courier New"/>
                <a:cs typeface="Courier New"/>
                <a:sym typeface="Courier New"/>
              </a:rPr>
              <a:t>br</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 &lt;</a:t>
            </a:r>
            <a:r>
              <a:rPr lang="en" sz="1200">
                <a:solidFill>
                  <a:srgbClr val="F92672"/>
                </a:solidFill>
                <a:highlight>
                  <a:srgbClr val="272822"/>
                </a:highlight>
                <a:latin typeface="Courier New"/>
                <a:ea typeface="Courier New"/>
                <a:cs typeface="Courier New"/>
                <a:sym typeface="Courier New"/>
              </a:rPr>
              <a:t>div</a:t>
            </a:r>
            <a:r>
              <a:rPr lang="en" sz="1200">
                <a:solidFill>
                  <a:srgbClr val="F8F8F2"/>
                </a:solidFill>
                <a:highlight>
                  <a:srgbClr val="272822"/>
                </a:highlight>
                <a:latin typeface="Courier New"/>
                <a:ea typeface="Courier New"/>
                <a:cs typeface="Courier New"/>
                <a:sym typeface="Courier New"/>
              </a:rPr>
              <a:t> </a:t>
            </a:r>
            <a:r>
              <a:rPr lang="en" sz="1200">
                <a:solidFill>
                  <a:srgbClr val="A6E22E"/>
                </a:solidFill>
                <a:highlight>
                  <a:srgbClr val="272822"/>
                </a:highlight>
                <a:latin typeface="Courier New"/>
                <a:ea typeface="Courier New"/>
                <a:cs typeface="Courier New"/>
                <a:sym typeface="Courier New"/>
              </a:rPr>
              <a:t>class</a:t>
            </a:r>
            <a:r>
              <a:rPr lang="en" sz="1200">
                <a:solidFill>
                  <a:srgbClr val="F8F8F2"/>
                </a:solidFill>
                <a:highlight>
                  <a:srgbClr val="272822"/>
                </a:highlight>
                <a:latin typeface="Courier New"/>
                <a:ea typeface="Courier New"/>
                <a:cs typeface="Courier New"/>
                <a:sym typeface="Courier New"/>
              </a:rPr>
              <a:t>=</a:t>
            </a:r>
            <a:r>
              <a:rPr lang="en" sz="1200">
                <a:solidFill>
                  <a:srgbClr val="E6DB74"/>
                </a:solidFill>
                <a:highlight>
                  <a:srgbClr val="272822"/>
                </a:highlight>
                <a:latin typeface="Courier New"/>
                <a:ea typeface="Courier New"/>
                <a:cs typeface="Courier New"/>
                <a:sym typeface="Courier New"/>
              </a:rPr>
              <a:t>"div2"</a:t>
            </a:r>
            <a:r>
              <a:rPr lang="en" sz="1200">
                <a:solidFill>
                  <a:srgbClr val="F8F8F2"/>
                </a:solidFill>
                <a:highlight>
                  <a:srgbClr val="272822"/>
                </a:highlight>
                <a:latin typeface="Courier New"/>
                <a:ea typeface="Courier New"/>
                <a:cs typeface="Courier New"/>
                <a:sym typeface="Courier New"/>
              </a:rPr>
              <a:t>&gt;Hooray!&lt;/</a:t>
            </a:r>
            <a:r>
              <a:rPr lang="en" sz="1200">
                <a:solidFill>
                  <a:srgbClr val="F92672"/>
                </a:solidFill>
                <a:highlight>
                  <a:srgbClr val="272822"/>
                </a:highlight>
                <a:latin typeface="Courier New"/>
                <a:ea typeface="Courier New"/>
                <a:cs typeface="Courier New"/>
                <a:sym typeface="Courier New"/>
              </a:rPr>
              <a:t>div</a:t>
            </a:r>
            <a:r>
              <a:rPr lang="en" sz="1200">
                <a:solidFill>
                  <a:srgbClr val="F8F8F2"/>
                </a:solidFill>
                <a:highlight>
                  <a:srgbClr val="272822"/>
                </a:highlight>
                <a:latin typeface="Courier New"/>
                <a:ea typeface="Courier New"/>
                <a:cs typeface="Courier New"/>
                <a:sym typeface="Courier New"/>
              </a:rPr>
              <a:t>&gt;</a:t>
            </a:r>
            <a:endParaRPr sz="12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200">
                <a:solidFill>
                  <a:srgbClr val="F8F8F2"/>
                </a:solidFill>
                <a:highlight>
                  <a:srgbClr val="272822"/>
                </a:highlight>
                <a:latin typeface="Courier New"/>
                <a:ea typeface="Courier New"/>
                <a:cs typeface="Courier New"/>
                <a:sym typeface="Courier New"/>
              </a:rPr>
              <a:t>&lt;/</a:t>
            </a:r>
            <a:r>
              <a:rPr lang="en" sz="1200">
                <a:solidFill>
                  <a:srgbClr val="F92672"/>
                </a:solidFill>
                <a:highlight>
                  <a:srgbClr val="272822"/>
                </a:highlight>
                <a:latin typeface="Courier New"/>
                <a:ea typeface="Courier New"/>
                <a:cs typeface="Courier New"/>
                <a:sym typeface="Courier New"/>
              </a:rPr>
              <a:t>body</a:t>
            </a:r>
            <a:r>
              <a:rPr lang="en" sz="1200">
                <a:solidFill>
                  <a:srgbClr val="F8F8F2"/>
                </a:solidFill>
                <a:highlight>
                  <a:srgbClr val="272822"/>
                </a:highlight>
                <a:latin typeface="Courier New"/>
                <a:ea typeface="Courier New"/>
                <a:cs typeface="Courier New"/>
                <a:sym typeface="Courier New"/>
              </a:rPr>
              <a:t>&gt;</a:t>
            </a:r>
            <a:endParaRPr sz="2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7"/>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With box-sizing</a:t>
            </a:r>
            <a:endParaRPr/>
          </a:p>
        </p:txBody>
      </p:sp>
      <p:pic>
        <p:nvPicPr>
          <p:cNvPr id="167" name="Google Shape;167;p17"/>
          <p:cNvPicPr preferRelativeResize="0"/>
          <p:nvPr/>
        </p:nvPicPr>
        <p:blipFill rotWithShape="1">
          <a:blip r:embed="rId3">
            <a:alphaModFix/>
          </a:blip>
          <a:srcRect b="0" l="0" r="0" t="0"/>
          <a:stretch/>
        </p:blipFill>
        <p:spPr>
          <a:xfrm>
            <a:off x="152400" y="712925"/>
            <a:ext cx="4802321" cy="4278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Media Query</a:t>
            </a:r>
            <a:endParaRPr/>
          </a:p>
        </p:txBody>
      </p:sp>
      <p:sp>
        <p:nvSpPr>
          <p:cNvPr id="173" name="Google Shape;17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Technique in CSS to design responsive web pages</a:t>
            </a:r>
            <a:endParaRPr/>
          </a:p>
          <a:p>
            <a:pPr indent="-342900" lvl="0" marL="457200" rtl="0" algn="just">
              <a:lnSpc>
                <a:spcPct val="115000"/>
              </a:lnSpc>
              <a:spcBef>
                <a:spcPts val="0"/>
              </a:spcBef>
              <a:spcAft>
                <a:spcPts val="0"/>
              </a:spcAft>
              <a:buSzPts val="1800"/>
              <a:buChar char="-"/>
            </a:pPr>
            <a:r>
              <a:rPr lang="en"/>
              <a:t>Use this to include a block of CSS based on a certain condition</a:t>
            </a:r>
            <a:endParaRPr/>
          </a:p>
          <a:p>
            <a:pPr indent="-342900" lvl="0" marL="457200" rtl="0" algn="just">
              <a:lnSpc>
                <a:spcPct val="115000"/>
              </a:lnSpc>
              <a:spcBef>
                <a:spcPts val="0"/>
              </a:spcBef>
              <a:spcAft>
                <a:spcPts val="0"/>
              </a:spcAft>
              <a:buSzPts val="1800"/>
              <a:buChar char="-"/>
            </a:pPr>
            <a:r>
              <a:rPr lang="en"/>
              <a:t>Always remember to design from the smallest device screen first, so start from</a:t>
            </a:r>
            <a:endParaRPr/>
          </a:p>
          <a:p>
            <a:pPr indent="0" lvl="0" marL="0" rtl="0" algn="ctr">
              <a:lnSpc>
                <a:spcPct val="115000"/>
              </a:lnSpc>
              <a:spcBef>
                <a:spcPts val="1200"/>
              </a:spcBef>
              <a:spcAft>
                <a:spcPts val="0"/>
              </a:spcAft>
              <a:buSzPts val="1800"/>
              <a:buNone/>
            </a:pPr>
            <a:r>
              <a:rPr lang="en"/>
              <a:t>Mobile Phones → Tablets → Desktop</a:t>
            </a:r>
            <a:endParaRPr/>
          </a:p>
          <a:p>
            <a:pPr indent="-342900" lvl="0" marL="457200" rtl="0" algn="just">
              <a:lnSpc>
                <a:spcPct val="115000"/>
              </a:lnSpc>
              <a:spcBef>
                <a:spcPts val="1200"/>
              </a:spcBef>
              <a:spcAft>
                <a:spcPts val="0"/>
              </a:spcAft>
              <a:buSzPts val="1800"/>
              <a:buChar char="-"/>
            </a:pPr>
            <a:r>
              <a:rPr lang="en"/>
              <a:t>Could also manipulate the orientation of the screens: portrait and landscape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Typical Device Breakpoints</a:t>
            </a:r>
            <a:endParaRPr/>
          </a:p>
        </p:txBody>
      </p:sp>
      <p:sp>
        <p:nvSpPr>
          <p:cNvPr id="179" name="Google Shape;179;p19"/>
          <p:cNvSpPr txBox="1"/>
          <p:nvPr>
            <p:ph idx="1" type="body"/>
          </p:nvPr>
        </p:nvSpPr>
        <p:spPr>
          <a:xfrm>
            <a:off x="59425" y="560525"/>
            <a:ext cx="9032400" cy="44442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Extra small devices (phones, 600px and down)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max-width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600</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88846F"/>
                </a:solidFill>
                <a:highlight>
                  <a:srgbClr val="272822"/>
                </a:highlight>
                <a:latin typeface="Courier New"/>
                <a:ea typeface="Courier New"/>
                <a:cs typeface="Courier New"/>
                <a:sym typeface="Courier New"/>
              </a:rPr>
              <a:t>/* css here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Small devices (portrait tablets and large phones, 600px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600</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88846F"/>
                </a:solidFill>
                <a:highlight>
                  <a:srgbClr val="272822"/>
                </a:highlight>
                <a:latin typeface="Courier New"/>
                <a:ea typeface="Courier New"/>
                <a:cs typeface="Courier New"/>
                <a:sym typeface="Courier New"/>
              </a:rPr>
              <a:t>/* css here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Medium devices (landscape tablets, 768px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768</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88846F"/>
                </a:solidFill>
                <a:highlight>
                  <a:srgbClr val="272822"/>
                </a:highlight>
                <a:latin typeface="Courier New"/>
                <a:ea typeface="Courier New"/>
                <a:cs typeface="Courier New"/>
                <a:sym typeface="Courier New"/>
              </a:rPr>
              <a:t>/* css here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Large devices (laptops/desktops, 992px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992</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88846F"/>
                </a:solidFill>
                <a:highlight>
                  <a:srgbClr val="272822"/>
                </a:highlight>
                <a:latin typeface="Courier New"/>
                <a:ea typeface="Courier New"/>
                <a:cs typeface="Courier New"/>
                <a:sym typeface="Courier New"/>
              </a:rPr>
              <a:t>/* css here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Extra large devices (large laptops and desktops, 1200px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1200</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88846F"/>
                </a:solidFill>
                <a:highlight>
                  <a:srgbClr val="272822"/>
                </a:highlight>
                <a:latin typeface="Courier New"/>
                <a:ea typeface="Courier New"/>
                <a:cs typeface="Courier New"/>
                <a:sym typeface="Courier New"/>
              </a:rPr>
              <a:t>/* css here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of responsiveness: CSS Part (style.css)</a:t>
            </a:r>
            <a:endParaRPr/>
          </a:p>
        </p:txBody>
      </p:sp>
      <p:sp>
        <p:nvSpPr>
          <p:cNvPr id="185" name="Google Shape;185;p21"/>
          <p:cNvSpPr txBox="1"/>
          <p:nvPr>
            <p:ph idx="1" type="body"/>
          </p:nvPr>
        </p:nvSpPr>
        <p:spPr>
          <a:xfrm>
            <a:off x="72625" y="633850"/>
            <a:ext cx="9019200" cy="43776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div</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padding</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20</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color</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white</a:t>
            </a: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Extra small devices (phones, 600px and down)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max-width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600</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div</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background</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red</a:t>
            </a: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Small devices (portrait tablets and large phones, 600px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600</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div</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background</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green</a:t>
            </a: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Medium devices (landscape tablets, 768px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768</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div</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background</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blue</a:t>
            </a: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Large devices (laptops/desktops, 992px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992</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div</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background</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orange</a:t>
            </a: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88846F"/>
                </a:solidFill>
                <a:highlight>
                  <a:srgbClr val="272822"/>
                </a:highlight>
                <a:latin typeface="Courier New"/>
                <a:ea typeface="Courier New"/>
                <a:cs typeface="Courier New"/>
                <a:sym typeface="Courier New"/>
              </a:rPr>
              <a:t>/* Extra large devices (large laptops and desktops, 1200px and up) */</a:t>
            </a:r>
            <a:endParaRPr sz="11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92672"/>
                </a:solidFill>
                <a:highlight>
                  <a:srgbClr val="272822"/>
                </a:highlight>
                <a:latin typeface="Courier New"/>
                <a:ea typeface="Courier New"/>
                <a:cs typeface="Courier New"/>
                <a:sym typeface="Courier New"/>
              </a:rPr>
              <a:t>@media</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only</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screen</a:t>
            </a: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and</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min-width</a:t>
            </a:r>
            <a:r>
              <a:rPr lang="en" sz="1100">
                <a:solidFill>
                  <a:srgbClr val="F8F8F2"/>
                </a:solidFill>
                <a:highlight>
                  <a:srgbClr val="272822"/>
                </a:highlight>
                <a:latin typeface="Courier New"/>
                <a:ea typeface="Courier New"/>
                <a:cs typeface="Courier New"/>
                <a:sym typeface="Courier New"/>
              </a:rPr>
              <a:t>: </a:t>
            </a:r>
            <a:r>
              <a:rPr lang="en" sz="1100">
                <a:solidFill>
                  <a:srgbClr val="AE81FF"/>
                </a:solidFill>
                <a:highlight>
                  <a:srgbClr val="272822"/>
                </a:highlight>
                <a:latin typeface="Courier New"/>
                <a:ea typeface="Courier New"/>
                <a:cs typeface="Courier New"/>
                <a:sym typeface="Courier New"/>
              </a:rPr>
              <a:t>1200</a:t>
            </a:r>
            <a:r>
              <a:rPr lang="en" sz="1100">
                <a:solidFill>
                  <a:srgbClr val="F92672"/>
                </a:solidFill>
                <a:highlight>
                  <a:srgbClr val="272822"/>
                </a:highlight>
                <a:latin typeface="Courier New"/>
                <a:ea typeface="Courier New"/>
                <a:cs typeface="Courier New"/>
                <a:sym typeface="Courier New"/>
              </a:rPr>
              <a:t>px</a:t>
            </a:r>
            <a:r>
              <a:rPr lang="en" sz="1100">
                <a:solidFill>
                  <a:srgbClr val="F8F8F2"/>
                </a:solidFill>
                <a:highlight>
                  <a:srgbClr val="272822"/>
                </a:highlight>
                <a:latin typeface="Courier New"/>
                <a:ea typeface="Courier New"/>
                <a:cs typeface="Courier New"/>
                <a:sym typeface="Courier New"/>
              </a:rPr>
              <a:t>) {</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   </a:t>
            </a:r>
            <a:r>
              <a:rPr lang="en" sz="1100">
                <a:solidFill>
                  <a:srgbClr val="F92672"/>
                </a:solidFill>
                <a:highlight>
                  <a:srgbClr val="272822"/>
                </a:highlight>
                <a:latin typeface="Courier New"/>
                <a:ea typeface="Courier New"/>
                <a:cs typeface="Courier New"/>
                <a:sym typeface="Courier New"/>
              </a:rPr>
              <a:t>div</a:t>
            </a:r>
            <a:r>
              <a:rPr lang="en" sz="1100">
                <a:solidFill>
                  <a:srgbClr val="F8F8F2"/>
                </a:solidFill>
                <a:highlight>
                  <a:srgbClr val="272822"/>
                </a:highlight>
                <a:latin typeface="Courier New"/>
                <a:ea typeface="Courier New"/>
                <a:cs typeface="Courier New"/>
                <a:sym typeface="Courier New"/>
              </a:rPr>
              <a:t> {</a:t>
            </a:r>
            <a:r>
              <a:rPr i="1" lang="en" sz="1100">
                <a:solidFill>
                  <a:srgbClr val="66D9EF"/>
                </a:solidFill>
                <a:highlight>
                  <a:srgbClr val="272822"/>
                </a:highlight>
                <a:latin typeface="Courier New"/>
                <a:ea typeface="Courier New"/>
                <a:cs typeface="Courier New"/>
                <a:sym typeface="Courier New"/>
              </a:rPr>
              <a:t>background</a:t>
            </a:r>
            <a:r>
              <a:rPr lang="en" sz="1100">
                <a:solidFill>
                  <a:srgbClr val="F8F8F2"/>
                </a:solidFill>
                <a:highlight>
                  <a:srgbClr val="272822"/>
                </a:highlight>
                <a:latin typeface="Courier New"/>
                <a:ea typeface="Courier New"/>
                <a:cs typeface="Courier New"/>
                <a:sym typeface="Courier New"/>
              </a:rPr>
              <a:t>: </a:t>
            </a:r>
            <a:r>
              <a:rPr lang="en" sz="1100">
                <a:solidFill>
                  <a:srgbClr val="66D9EF"/>
                </a:solidFill>
                <a:highlight>
                  <a:srgbClr val="272822"/>
                </a:highlight>
                <a:latin typeface="Courier New"/>
                <a:ea typeface="Courier New"/>
                <a:cs typeface="Courier New"/>
                <a:sym typeface="Courier New"/>
              </a:rPr>
              <a:t>pink</a:t>
            </a:r>
            <a:r>
              <a:rPr lang="en" sz="1100">
                <a:solidFill>
                  <a:srgbClr val="F8F8F2"/>
                </a:solidFill>
                <a:highlight>
                  <a:srgbClr val="272822"/>
                </a:highlight>
                <a:latin typeface="Courier New"/>
                <a:ea typeface="Courier New"/>
                <a:cs typeface="Courier New"/>
                <a:sym typeface="Courier New"/>
              </a:rPr>
              <a:t>;}</a:t>
            </a:r>
            <a:endParaRPr sz="11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100">
                <a:solidFill>
                  <a:srgbClr val="F8F8F2"/>
                </a:solidFill>
                <a:highlight>
                  <a:srgbClr val="272822"/>
                </a:highlight>
                <a:latin typeface="Courier New"/>
                <a:ea typeface="Courier New"/>
                <a:cs typeface="Courier New"/>
                <a:sym typeface="Courier New"/>
              </a:rPr>
              <a:t>}</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of responsiveness: HTML part</a:t>
            </a:r>
            <a:endParaRPr/>
          </a:p>
        </p:txBody>
      </p:sp>
      <p:sp>
        <p:nvSpPr>
          <p:cNvPr id="191" name="Google Shape;191;p22"/>
          <p:cNvSpPr txBox="1"/>
          <p:nvPr>
            <p:ph idx="1" type="body"/>
          </p:nvPr>
        </p:nvSpPr>
        <p:spPr>
          <a:xfrm>
            <a:off x="72625" y="633850"/>
            <a:ext cx="9019200" cy="43776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DOCTYPE</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html</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html</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lang</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"en"</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head</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meta</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charset</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"UTF-8"</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meta</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name</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"viewport"</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content</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"width=device-width, initial-scale=1.0"</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title</a:t>
            </a:r>
            <a:r>
              <a:rPr lang="en" sz="1500">
                <a:solidFill>
                  <a:srgbClr val="F8F8F2"/>
                </a:solidFill>
                <a:highlight>
                  <a:srgbClr val="272822"/>
                </a:highlight>
                <a:latin typeface="Courier New"/>
                <a:ea typeface="Courier New"/>
                <a:cs typeface="Courier New"/>
                <a:sym typeface="Courier New"/>
              </a:rPr>
              <a:t>&gt;Responsive Web Design&lt;/</a:t>
            </a:r>
            <a:r>
              <a:rPr lang="en" sz="1500">
                <a:solidFill>
                  <a:srgbClr val="F92672"/>
                </a:solidFill>
                <a:highlight>
                  <a:srgbClr val="272822"/>
                </a:highlight>
                <a:latin typeface="Courier New"/>
                <a:ea typeface="Courier New"/>
                <a:cs typeface="Courier New"/>
                <a:sym typeface="Courier New"/>
              </a:rPr>
              <a:t>title</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link</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href</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"style.css"</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rel</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"stylesheet"</a:t>
            </a:r>
            <a:r>
              <a:rPr lang="en" sz="1500">
                <a:solidFill>
                  <a:srgbClr val="F8F8F2"/>
                </a:solidFill>
                <a:highlight>
                  <a:srgbClr val="272822"/>
                </a:highlight>
                <a:latin typeface="Courier New"/>
                <a:ea typeface="Courier New"/>
                <a:cs typeface="Courier New"/>
                <a:sym typeface="Courier New"/>
              </a:rPr>
              <a:t> /&gt;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head</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body</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div</a:t>
            </a:r>
            <a:r>
              <a:rPr lang="en" sz="1500">
                <a:solidFill>
                  <a:srgbClr val="F8F8F2"/>
                </a:solidFill>
                <a:highlight>
                  <a:srgbClr val="272822"/>
                </a:highlight>
                <a:latin typeface="Courier New"/>
                <a:ea typeface="Courier New"/>
                <a:cs typeface="Courier New"/>
                <a:sym typeface="Courier New"/>
              </a:rPr>
              <a:t>&gt;Resize the browser window to see different background color!&lt;/</a:t>
            </a:r>
            <a:r>
              <a:rPr lang="en" sz="1500">
                <a:solidFill>
                  <a:srgbClr val="F92672"/>
                </a:solidFill>
                <a:highlight>
                  <a:srgbClr val="272822"/>
                </a:highlight>
                <a:latin typeface="Courier New"/>
                <a:ea typeface="Courier New"/>
                <a:cs typeface="Courier New"/>
                <a:sym typeface="Courier New"/>
              </a:rPr>
              <a:t>div</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body</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html</a:t>
            </a:r>
            <a:r>
              <a:rPr lang="en" sz="1500">
                <a:solidFill>
                  <a:srgbClr val="F8F8F2"/>
                </a:solidFill>
                <a:highlight>
                  <a:srgbClr val="272822"/>
                </a:highlight>
                <a:latin typeface="Courier New"/>
                <a:ea typeface="Courier New"/>
                <a:cs typeface="Courier New"/>
                <a:sym typeface="Courier New"/>
              </a:rPr>
              <a:t>&gt;</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3"/>
          <p:cNvPicPr preferRelativeResize="0"/>
          <p:nvPr/>
        </p:nvPicPr>
        <p:blipFill rotWithShape="1">
          <a:blip r:embed="rId3">
            <a:alphaModFix/>
          </a:blip>
          <a:srcRect b="0" l="0" r="0" t="0"/>
          <a:stretch/>
        </p:blipFill>
        <p:spPr>
          <a:xfrm>
            <a:off x="0" y="152400"/>
            <a:ext cx="8839204" cy="1104900"/>
          </a:xfrm>
          <a:prstGeom prst="rect">
            <a:avLst/>
          </a:prstGeom>
          <a:noFill/>
          <a:ln>
            <a:noFill/>
          </a:ln>
        </p:spPr>
      </p:pic>
      <p:pic>
        <p:nvPicPr>
          <p:cNvPr id="197" name="Google Shape;197;p23"/>
          <p:cNvPicPr preferRelativeResize="0"/>
          <p:nvPr/>
        </p:nvPicPr>
        <p:blipFill rotWithShape="1">
          <a:blip r:embed="rId4">
            <a:alphaModFix/>
          </a:blip>
          <a:srcRect b="0" l="0" r="0" t="0"/>
          <a:stretch/>
        </p:blipFill>
        <p:spPr>
          <a:xfrm>
            <a:off x="0" y="1333500"/>
            <a:ext cx="8839202" cy="1318359"/>
          </a:xfrm>
          <a:prstGeom prst="rect">
            <a:avLst/>
          </a:prstGeom>
          <a:noFill/>
          <a:ln>
            <a:noFill/>
          </a:ln>
        </p:spPr>
      </p:pic>
      <p:pic>
        <p:nvPicPr>
          <p:cNvPr id="198" name="Google Shape;198;p23"/>
          <p:cNvPicPr preferRelativeResize="0"/>
          <p:nvPr/>
        </p:nvPicPr>
        <p:blipFill rotWithShape="1">
          <a:blip r:embed="rId5">
            <a:alphaModFix/>
          </a:blip>
          <a:srcRect b="0" l="0" r="0" t="0"/>
          <a:stretch/>
        </p:blipFill>
        <p:spPr>
          <a:xfrm>
            <a:off x="0" y="2651850"/>
            <a:ext cx="4985023" cy="1104900"/>
          </a:xfrm>
          <a:prstGeom prst="rect">
            <a:avLst/>
          </a:prstGeom>
          <a:noFill/>
          <a:ln>
            <a:noFill/>
          </a:ln>
        </p:spPr>
      </p:pic>
      <p:pic>
        <p:nvPicPr>
          <p:cNvPr id="199" name="Google Shape;199;p23"/>
          <p:cNvPicPr preferRelativeResize="0"/>
          <p:nvPr/>
        </p:nvPicPr>
        <p:blipFill rotWithShape="1">
          <a:blip r:embed="rId6">
            <a:alphaModFix/>
          </a:blip>
          <a:srcRect b="0" l="0" r="0" t="0"/>
          <a:stretch/>
        </p:blipFill>
        <p:spPr>
          <a:xfrm>
            <a:off x="0" y="3756750"/>
            <a:ext cx="4985025" cy="1246350"/>
          </a:xfrm>
          <a:prstGeom prst="rect">
            <a:avLst/>
          </a:prstGeom>
          <a:noFill/>
          <a:ln>
            <a:noFill/>
          </a:ln>
        </p:spPr>
      </p:pic>
      <p:pic>
        <p:nvPicPr>
          <p:cNvPr id="200" name="Google Shape;200;p23"/>
          <p:cNvPicPr preferRelativeResize="0"/>
          <p:nvPr/>
        </p:nvPicPr>
        <p:blipFill rotWithShape="1">
          <a:blip r:embed="rId7">
            <a:alphaModFix/>
          </a:blip>
          <a:srcRect b="0" l="0" r="0" t="0"/>
          <a:stretch/>
        </p:blipFill>
        <p:spPr>
          <a:xfrm>
            <a:off x="4985025" y="2697825"/>
            <a:ext cx="4153101" cy="1012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Orientation: Portrait and Landscape</a:t>
            </a:r>
            <a:endParaRPr/>
          </a:p>
        </p:txBody>
      </p:sp>
      <p:sp>
        <p:nvSpPr>
          <p:cNvPr id="206" name="Google Shape;206;p24"/>
          <p:cNvSpPr txBox="1"/>
          <p:nvPr>
            <p:ph idx="1" type="body"/>
          </p:nvPr>
        </p:nvSpPr>
        <p:spPr>
          <a:xfrm>
            <a:off x="72625" y="633850"/>
            <a:ext cx="9019200" cy="43776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DOCTYPE</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html</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html</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head</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meta</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name</a:t>
            </a:r>
            <a:r>
              <a:rPr lang="en" sz="1400">
                <a:solidFill>
                  <a:srgbClr val="F8F8F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"viewport"</a:t>
            </a:r>
            <a:r>
              <a:rPr lang="en" sz="1400">
                <a:solidFill>
                  <a:srgbClr val="F8F8F2"/>
                </a:solidFill>
                <a:highlight>
                  <a:srgbClr val="272822"/>
                </a:highlight>
                <a:latin typeface="Courier New"/>
                <a:ea typeface="Courier New"/>
                <a:cs typeface="Courier New"/>
                <a:sym typeface="Courier New"/>
              </a:rPr>
              <a:t> </a:t>
            </a:r>
            <a:r>
              <a:rPr lang="en" sz="1400">
                <a:solidFill>
                  <a:srgbClr val="A6E22E"/>
                </a:solidFill>
                <a:highlight>
                  <a:srgbClr val="272822"/>
                </a:highlight>
                <a:latin typeface="Courier New"/>
                <a:ea typeface="Courier New"/>
                <a:cs typeface="Courier New"/>
                <a:sym typeface="Courier New"/>
              </a:rPr>
              <a:t>content</a:t>
            </a:r>
            <a:r>
              <a:rPr lang="en" sz="1400">
                <a:solidFill>
                  <a:srgbClr val="F8F8F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"width=device-width, initial-scale=1.0"</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style</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92672"/>
                </a:solidFill>
                <a:highlight>
                  <a:srgbClr val="272822"/>
                </a:highlight>
                <a:latin typeface="Courier New"/>
                <a:ea typeface="Courier New"/>
                <a:cs typeface="Courier New"/>
                <a:sym typeface="Courier New"/>
              </a:rPr>
              <a:t>body</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background-color</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lightgreen</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92672"/>
                </a:solidFill>
                <a:highlight>
                  <a:srgbClr val="272822"/>
                </a:highlight>
                <a:latin typeface="Courier New"/>
                <a:ea typeface="Courier New"/>
                <a:cs typeface="Courier New"/>
                <a:sym typeface="Courier New"/>
              </a:rPr>
              <a:t>@media</a:t>
            </a:r>
            <a:r>
              <a:rPr lang="en" sz="1400">
                <a:solidFill>
                  <a:srgbClr val="F8F8F2"/>
                </a:solidFill>
                <a:highlight>
                  <a:srgbClr val="272822"/>
                </a:highlight>
                <a:latin typeface="Courier New"/>
                <a:ea typeface="Courier New"/>
                <a:cs typeface="Courier New"/>
                <a:sym typeface="Courier New"/>
              </a:rPr>
              <a:t> </a:t>
            </a:r>
            <a:r>
              <a:rPr lang="en" sz="1400">
                <a:solidFill>
                  <a:srgbClr val="F92672"/>
                </a:solidFill>
                <a:highlight>
                  <a:srgbClr val="272822"/>
                </a:highlight>
                <a:latin typeface="Courier New"/>
                <a:ea typeface="Courier New"/>
                <a:cs typeface="Courier New"/>
                <a:sym typeface="Courier New"/>
              </a:rPr>
              <a:t>only</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screen</a:t>
            </a:r>
            <a:r>
              <a:rPr lang="en" sz="1400">
                <a:solidFill>
                  <a:srgbClr val="F8F8F2"/>
                </a:solidFill>
                <a:highlight>
                  <a:srgbClr val="272822"/>
                </a:highlight>
                <a:latin typeface="Courier New"/>
                <a:ea typeface="Courier New"/>
                <a:cs typeface="Courier New"/>
                <a:sym typeface="Courier New"/>
              </a:rPr>
              <a:t> </a:t>
            </a:r>
            <a:r>
              <a:rPr lang="en" sz="1400">
                <a:solidFill>
                  <a:srgbClr val="F92672"/>
                </a:solidFill>
                <a:highlight>
                  <a:srgbClr val="272822"/>
                </a:highlight>
                <a:latin typeface="Courier New"/>
                <a:ea typeface="Courier New"/>
                <a:cs typeface="Courier New"/>
                <a:sym typeface="Courier New"/>
              </a:rPr>
              <a:t>and</a:t>
            </a: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orientation</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landscape</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lang="en" sz="1400">
                <a:solidFill>
                  <a:srgbClr val="F92672"/>
                </a:solidFill>
                <a:highlight>
                  <a:srgbClr val="272822"/>
                </a:highlight>
                <a:latin typeface="Courier New"/>
                <a:ea typeface="Courier New"/>
                <a:cs typeface="Courier New"/>
                <a:sym typeface="Courier New"/>
              </a:rPr>
              <a:t>body</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background-color</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lightblue</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style</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head</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body</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p</a:t>
            </a:r>
            <a:r>
              <a:rPr lang="en" sz="1400">
                <a:solidFill>
                  <a:srgbClr val="F8F8F2"/>
                </a:solidFill>
                <a:highlight>
                  <a:srgbClr val="272822"/>
                </a:highlight>
                <a:latin typeface="Courier New"/>
                <a:ea typeface="Courier New"/>
                <a:cs typeface="Courier New"/>
                <a:sym typeface="Courier New"/>
              </a:rPr>
              <a:t>&gt;Portrait: lightgreen, Landscape: lightblue&lt;/</a:t>
            </a:r>
            <a:r>
              <a:rPr lang="en" sz="1400">
                <a:solidFill>
                  <a:srgbClr val="F92672"/>
                </a:solidFill>
                <a:highlight>
                  <a:srgbClr val="272822"/>
                </a:highlight>
                <a:latin typeface="Courier New"/>
                <a:ea typeface="Courier New"/>
                <a:cs typeface="Courier New"/>
                <a:sym typeface="Courier New"/>
              </a:rPr>
              <a:t>p</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body</a:t>
            </a:r>
            <a:r>
              <a:rPr lang="en" sz="1400">
                <a:solidFill>
                  <a:srgbClr val="F8F8F2"/>
                </a:solidFill>
                <a:highlight>
                  <a:srgbClr val="272822"/>
                </a:highlight>
                <a:latin typeface="Courier New"/>
                <a:ea typeface="Courier New"/>
                <a:cs typeface="Courier New"/>
                <a:sym typeface="Courier New"/>
              </a:rPr>
              <a:t>&gt;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&lt;/</a:t>
            </a:r>
            <a:r>
              <a:rPr lang="en" sz="1400">
                <a:solidFill>
                  <a:srgbClr val="F92672"/>
                </a:solidFill>
                <a:highlight>
                  <a:srgbClr val="272822"/>
                </a:highlight>
                <a:latin typeface="Courier New"/>
                <a:ea typeface="Courier New"/>
                <a:cs typeface="Courier New"/>
                <a:sym typeface="Courier New"/>
              </a:rPr>
              <a:t>html</a:t>
            </a:r>
            <a:r>
              <a:rPr lang="en" sz="1400">
                <a:solidFill>
                  <a:srgbClr val="F8F8F2"/>
                </a:solidFill>
                <a:highlight>
                  <a:srgbClr val="272822"/>
                </a:highlight>
                <a:latin typeface="Courier New"/>
                <a:ea typeface="Courier New"/>
                <a:cs typeface="Courier New"/>
                <a:sym typeface="Courier New"/>
              </a:rPr>
              <a:t>&gt;</a:t>
            </a:r>
            <a:endParaRPr sz="23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5"/>
          <p:cNvPicPr preferRelativeResize="0"/>
          <p:nvPr/>
        </p:nvPicPr>
        <p:blipFill rotWithShape="1">
          <a:blip r:embed="rId3">
            <a:alphaModFix/>
          </a:blip>
          <a:srcRect b="0" l="0" r="0" t="0"/>
          <a:stretch/>
        </p:blipFill>
        <p:spPr>
          <a:xfrm>
            <a:off x="244272" y="73175"/>
            <a:ext cx="4579676" cy="3454525"/>
          </a:xfrm>
          <a:prstGeom prst="rect">
            <a:avLst/>
          </a:prstGeom>
          <a:noFill/>
          <a:ln>
            <a:noFill/>
          </a:ln>
        </p:spPr>
      </p:pic>
      <p:pic>
        <p:nvPicPr>
          <p:cNvPr id="212" name="Google Shape;212;p25"/>
          <p:cNvPicPr preferRelativeResize="0"/>
          <p:nvPr/>
        </p:nvPicPr>
        <p:blipFill rotWithShape="1">
          <a:blip r:embed="rId4">
            <a:alphaModFix/>
          </a:blip>
          <a:srcRect b="0" l="0" r="0" t="0"/>
          <a:stretch/>
        </p:blipFill>
        <p:spPr>
          <a:xfrm>
            <a:off x="152400" y="2532673"/>
            <a:ext cx="9143999" cy="236415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Steps of creating a responsive web</a:t>
            </a:r>
            <a:endParaRPr/>
          </a:p>
        </p:txBody>
      </p:sp>
      <p:sp>
        <p:nvSpPr>
          <p:cNvPr id="218" name="Google Shape;218;p27"/>
          <p:cNvSpPr txBox="1"/>
          <p:nvPr>
            <p:ph idx="1" type="body"/>
          </p:nvPr>
        </p:nvSpPr>
        <p:spPr>
          <a:xfrm>
            <a:off x="72625" y="633850"/>
            <a:ext cx="9019200" cy="43776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AutoNum type="arabicPeriod"/>
            </a:pPr>
            <a:r>
              <a:rPr lang="en"/>
              <a:t>Ensure all HTML elements have </a:t>
            </a:r>
            <a:r>
              <a:rPr lang="en">
                <a:solidFill>
                  <a:srgbClr val="1155CC"/>
                </a:solidFill>
                <a:latin typeface="Source Code Pro"/>
                <a:ea typeface="Source Code Pro"/>
                <a:cs typeface="Source Code Pro"/>
                <a:sym typeface="Source Code Pro"/>
              </a:rPr>
              <a:t>box-sizing</a:t>
            </a:r>
            <a:r>
              <a:rPr lang="en"/>
              <a:t> property set to </a:t>
            </a:r>
            <a:r>
              <a:rPr lang="en">
                <a:solidFill>
                  <a:srgbClr val="1155CC"/>
                </a:solidFill>
                <a:latin typeface="Source Code Pro"/>
                <a:ea typeface="Source Code Pro"/>
                <a:cs typeface="Source Code Pro"/>
                <a:sym typeface="Source Code Pro"/>
              </a:rPr>
              <a:t>border-box</a:t>
            </a:r>
            <a:endParaRPr>
              <a:solidFill>
                <a:srgbClr val="1155CC"/>
              </a:solidFill>
              <a:latin typeface="Source Code Pro"/>
              <a:ea typeface="Source Code Pro"/>
              <a:cs typeface="Source Code Pro"/>
              <a:sym typeface="Source Code Pro"/>
            </a:endParaRPr>
          </a:p>
          <a:p>
            <a:pPr indent="-342900" lvl="0" marL="457200" rtl="0" algn="just">
              <a:lnSpc>
                <a:spcPct val="115000"/>
              </a:lnSpc>
              <a:spcBef>
                <a:spcPts val="0"/>
              </a:spcBef>
              <a:spcAft>
                <a:spcPts val="0"/>
              </a:spcAft>
              <a:buSzPts val="1800"/>
              <a:buAutoNum type="arabicPeriod"/>
            </a:pPr>
            <a:r>
              <a:rPr lang="en"/>
              <a:t>Think about how to design the page contents, how many columns or rows and the percentage</a:t>
            </a:r>
            <a:endParaRPr/>
          </a:p>
          <a:p>
            <a:pPr indent="-342900" lvl="0" marL="457200" rtl="0" algn="just">
              <a:lnSpc>
                <a:spcPct val="115000"/>
              </a:lnSpc>
              <a:spcBef>
                <a:spcPts val="0"/>
              </a:spcBef>
              <a:spcAft>
                <a:spcPts val="0"/>
              </a:spcAft>
              <a:buSzPts val="1800"/>
              <a:buAutoNum type="arabicPeriod"/>
            </a:pPr>
            <a:r>
              <a:rPr lang="en"/>
              <a:t>Calculate responsive columns percentage</a:t>
            </a:r>
            <a:endParaRPr/>
          </a:p>
          <a:p>
            <a:pPr indent="-342900" lvl="0" marL="457200" rtl="0" algn="just">
              <a:lnSpc>
                <a:spcPct val="115000"/>
              </a:lnSpc>
              <a:spcBef>
                <a:spcPts val="0"/>
              </a:spcBef>
              <a:spcAft>
                <a:spcPts val="0"/>
              </a:spcAft>
              <a:buSzPts val="1800"/>
              <a:buAutoNum type="arabicPeriod"/>
            </a:pPr>
            <a:r>
              <a:rPr lang="en"/>
              <a:t>Use media query to split device breakpoints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08cfa3cf1a_0_10"/>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Columns percentage assuming 12 columns</a:t>
            </a:r>
            <a:endParaRPr/>
          </a:p>
        </p:txBody>
      </p:sp>
      <p:sp>
        <p:nvSpPr>
          <p:cNvPr id="224" name="Google Shape;224;g308cfa3cf1a_0_10"/>
          <p:cNvSpPr txBox="1"/>
          <p:nvPr>
            <p:ph idx="1" type="body"/>
          </p:nvPr>
        </p:nvSpPr>
        <p:spPr>
          <a:xfrm>
            <a:off x="72625" y="633850"/>
            <a:ext cx="9019200" cy="41862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1800"/>
              <a:buNone/>
            </a:pPr>
            <a:r>
              <a:rPr lang="en"/>
              <a:t>Width of a screen is considered as 100%. There are 12 columns, so</a:t>
            </a:r>
            <a:endParaRPr/>
          </a:p>
          <a:p>
            <a:pPr indent="0" lvl="0" marL="0" rtl="0" algn="just">
              <a:lnSpc>
                <a:spcPct val="100000"/>
              </a:lnSpc>
              <a:spcBef>
                <a:spcPts val="0"/>
              </a:spcBef>
              <a:spcAft>
                <a:spcPts val="0"/>
              </a:spcAft>
              <a:buSzPts val="1800"/>
              <a:buNone/>
            </a:pPr>
            <a:r>
              <a:rPr lang="en"/>
              <a:t>1 column = 100 / 12 	= 8.33%</a:t>
            </a:r>
            <a:endParaRPr/>
          </a:p>
          <a:p>
            <a:pPr indent="0" lvl="0" marL="0" rtl="0" algn="just">
              <a:lnSpc>
                <a:spcPct val="100000"/>
              </a:lnSpc>
              <a:spcBef>
                <a:spcPts val="0"/>
              </a:spcBef>
              <a:spcAft>
                <a:spcPts val="0"/>
              </a:spcAft>
              <a:buSzPts val="1800"/>
              <a:buNone/>
            </a:pPr>
            <a:r>
              <a:rPr lang="en"/>
              <a:t>2 columns 			= 16.66%</a:t>
            </a:r>
            <a:endParaRPr/>
          </a:p>
          <a:p>
            <a:pPr indent="0" lvl="0" marL="0" rtl="0" algn="just">
              <a:lnSpc>
                <a:spcPct val="100000"/>
              </a:lnSpc>
              <a:spcBef>
                <a:spcPts val="0"/>
              </a:spcBef>
              <a:spcAft>
                <a:spcPts val="0"/>
              </a:spcAft>
              <a:buSzPts val="1800"/>
              <a:buNone/>
            </a:pPr>
            <a:r>
              <a:rPr lang="en"/>
              <a:t>3 columns			= 25%</a:t>
            </a:r>
            <a:endParaRPr/>
          </a:p>
          <a:p>
            <a:pPr indent="0" lvl="0" marL="0" rtl="0" algn="just">
              <a:lnSpc>
                <a:spcPct val="100000"/>
              </a:lnSpc>
              <a:spcBef>
                <a:spcPts val="0"/>
              </a:spcBef>
              <a:spcAft>
                <a:spcPts val="0"/>
              </a:spcAft>
              <a:buSzPts val="1800"/>
              <a:buNone/>
            </a:pPr>
            <a:r>
              <a:rPr lang="en"/>
              <a:t>4 columns			= 33.33%</a:t>
            </a:r>
            <a:endParaRPr/>
          </a:p>
          <a:p>
            <a:pPr indent="0" lvl="0" marL="0" rtl="0" algn="just">
              <a:lnSpc>
                <a:spcPct val="100000"/>
              </a:lnSpc>
              <a:spcBef>
                <a:spcPts val="0"/>
              </a:spcBef>
              <a:spcAft>
                <a:spcPts val="0"/>
              </a:spcAft>
              <a:buSzPts val="1800"/>
              <a:buNone/>
            </a:pPr>
            <a:r>
              <a:rPr lang="en"/>
              <a:t>5 columns			= 41.66%</a:t>
            </a:r>
            <a:endParaRPr/>
          </a:p>
          <a:p>
            <a:pPr indent="0" lvl="0" marL="0" rtl="0" algn="just">
              <a:lnSpc>
                <a:spcPct val="100000"/>
              </a:lnSpc>
              <a:spcBef>
                <a:spcPts val="0"/>
              </a:spcBef>
              <a:spcAft>
                <a:spcPts val="0"/>
              </a:spcAft>
              <a:buSzPts val="1800"/>
              <a:buNone/>
            </a:pPr>
            <a:r>
              <a:rPr lang="en"/>
              <a:t>6 columns			= 50%</a:t>
            </a:r>
            <a:endParaRPr/>
          </a:p>
          <a:p>
            <a:pPr indent="0" lvl="0" marL="0" rtl="0" algn="just">
              <a:lnSpc>
                <a:spcPct val="100000"/>
              </a:lnSpc>
              <a:spcBef>
                <a:spcPts val="0"/>
              </a:spcBef>
              <a:spcAft>
                <a:spcPts val="0"/>
              </a:spcAft>
              <a:buSzPts val="1800"/>
              <a:buNone/>
            </a:pPr>
            <a:r>
              <a:rPr lang="en"/>
              <a:t>7 columns			= 58.33%</a:t>
            </a:r>
            <a:endParaRPr/>
          </a:p>
          <a:p>
            <a:pPr indent="0" lvl="0" marL="0" rtl="0" algn="just">
              <a:lnSpc>
                <a:spcPct val="100000"/>
              </a:lnSpc>
              <a:spcBef>
                <a:spcPts val="0"/>
              </a:spcBef>
              <a:spcAft>
                <a:spcPts val="0"/>
              </a:spcAft>
              <a:buSzPts val="1800"/>
              <a:buNone/>
            </a:pPr>
            <a:r>
              <a:rPr lang="en"/>
              <a:t>8 columns			= 61.66%</a:t>
            </a:r>
            <a:endParaRPr/>
          </a:p>
          <a:p>
            <a:pPr indent="0" lvl="0" marL="0" rtl="0" algn="just">
              <a:lnSpc>
                <a:spcPct val="100000"/>
              </a:lnSpc>
              <a:spcBef>
                <a:spcPts val="0"/>
              </a:spcBef>
              <a:spcAft>
                <a:spcPts val="0"/>
              </a:spcAft>
              <a:buSzPts val="1800"/>
              <a:buNone/>
            </a:pPr>
            <a:r>
              <a:rPr lang="en"/>
              <a:t>9 columns			= 75%</a:t>
            </a:r>
            <a:endParaRPr/>
          </a:p>
          <a:p>
            <a:pPr indent="0" lvl="0" marL="0" rtl="0" algn="just">
              <a:lnSpc>
                <a:spcPct val="100000"/>
              </a:lnSpc>
              <a:spcBef>
                <a:spcPts val="0"/>
              </a:spcBef>
              <a:spcAft>
                <a:spcPts val="0"/>
              </a:spcAft>
              <a:buSzPts val="1800"/>
              <a:buNone/>
            </a:pPr>
            <a:r>
              <a:rPr lang="en"/>
              <a:t>10 columns			= 83.33%</a:t>
            </a:r>
            <a:endParaRPr/>
          </a:p>
          <a:p>
            <a:pPr indent="0" lvl="0" marL="0" rtl="0" algn="just">
              <a:lnSpc>
                <a:spcPct val="100000"/>
              </a:lnSpc>
              <a:spcBef>
                <a:spcPts val="0"/>
              </a:spcBef>
              <a:spcAft>
                <a:spcPts val="0"/>
              </a:spcAft>
              <a:buSzPts val="1800"/>
              <a:buNone/>
            </a:pPr>
            <a:r>
              <a:rPr lang="en"/>
              <a:t>11 columns			= 91.66%</a:t>
            </a:r>
            <a:endParaRPr/>
          </a:p>
          <a:p>
            <a:pPr indent="0" lvl="0" marL="0" rtl="0" algn="just">
              <a:lnSpc>
                <a:spcPct val="100000"/>
              </a:lnSpc>
              <a:spcBef>
                <a:spcPts val="0"/>
              </a:spcBef>
              <a:spcAft>
                <a:spcPts val="0"/>
              </a:spcAft>
              <a:buSzPts val="1800"/>
              <a:buNone/>
            </a:pPr>
            <a:r>
              <a:rPr lang="en"/>
              <a:t>12 columns			= 100%</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8"/>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Target Desktop</a:t>
            </a:r>
            <a:endParaRPr/>
          </a:p>
        </p:txBody>
      </p:sp>
      <p:pic>
        <p:nvPicPr>
          <p:cNvPr id="230" name="Google Shape;230;p28"/>
          <p:cNvPicPr preferRelativeResize="0"/>
          <p:nvPr/>
        </p:nvPicPr>
        <p:blipFill rotWithShape="1">
          <a:blip r:embed="rId3">
            <a:alphaModFix/>
          </a:blip>
          <a:srcRect b="0" l="0" r="0" t="0"/>
          <a:stretch/>
        </p:blipFill>
        <p:spPr>
          <a:xfrm>
            <a:off x="152400" y="712925"/>
            <a:ext cx="8839204" cy="250329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9"/>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Target Tablet and Mobile</a:t>
            </a:r>
            <a:endParaRPr/>
          </a:p>
        </p:txBody>
      </p:sp>
      <p:pic>
        <p:nvPicPr>
          <p:cNvPr id="236" name="Google Shape;236;p29"/>
          <p:cNvPicPr preferRelativeResize="0"/>
          <p:nvPr/>
        </p:nvPicPr>
        <p:blipFill rotWithShape="1">
          <a:blip r:embed="rId3">
            <a:alphaModFix/>
          </a:blip>
          <a:srcRect b="0" l="0" r="0" t="0"/>
          <a:stretch/>
        </p:blipFill>
        <p:spPr>
          <a:xfrm>
            <a:off x="4818025" y="627075"/>
            <a:ext cx="3775151" cy="4278172"/>
          </a:xfrm>
          <a:prstGeom prst="rect">
            <a:avLst/>
          </a:prstGeom>
          <a:noFill/>
          <a:ln>
            <a:noFill/>
          </a:ln>
        </p:spPr>
      </p:pic>
      <p:pic>
        <p:nvPicPr>
          <p:cNvPr id="237" name="Google Shape;237;p29"/>
          <p:cNvPicPr preferRelativeResize="0"/>
          <p:nvPr/>
        </p:nvPicPr>
        <p:blipFill rotWithShape="1">
          <a:blip r:embed="rId4">
            <a:alphaModFix/>
          </a:blip>
          <a:srcRect b="0" l="0" r="0" t="0"/>
          <a:stretch/>
        </p:blipFill>
        <p:spPr>
          <a:xfrm>
            <a:off x="786250" y="627075"/>
            <a:ext cx="3523894" cy="427817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File: style.css</a:t>
            </a:r>
            <a:endParaRPr/>
          </a:p>
        </p:txBody>
      </p:sp>
      <p:sp>
        <p:nvSpPr>
          <p:cNvPr id="243" name="Google Shape;243;p30"/>
          <p:cNvSpPr txBox="1"/>
          <p:nvPr>
            <p:ph idx="1" type="body"/>
          </p:nvPr>
        </p:nvSpPr>
        <p:spPr>
          <a:xfrm>
            <a:off x="72625" y="633850"/>
            <a:ext cx="9019200" cy="43776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400">
                <a:solidFill>
                  <a:srgbClr val="F92672"/>
                </a:solidFill>
                <a:highlight>
                  <a:srgbClr val="272822"/>
                </a:highlight>
                <a:latin typeface="Courier New"/>
                <a:ea typeface="Courier New"/>
                <a:cs typeface="Courier New"/>
                <a:sym typeface="Courier New"/>
              </a:rPr>
              <a:t>*</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box-sizing</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border-box</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A6E22E"/>
                </a:solidFill>
                <a:highlight>
                  <a:srgbClr val="272822"/>
                </a:highlight>
                <a:latin typeface="Courier New"/>
                <a:ea typeface="Courier New"/>
                <a:cs typeface="Courier New"/>
                <a:sym typeface="Courier New"/>
              </a:rPr>
              <a:t>.row::after</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content</a:t>
            </a:r>
            <a:r>
              <a:rPr lang="en" sz="1400">
                <a:solidFill>
                  <a:srgbClr val="F8F8F2"/>
                </a:solidFill>
                <a:highlight>
                  <a:srgbClr val="272822"/>
                </a:highlight>
                <a:latin typeface="Courier New"/>
                <a:ea typeface="Courier New"/>
                <a:cs typeface="Courier New"/>
                <a:sym typeface="Courier New"/>
              </a:rPr>
              <a:t>: </a:t>
            </a:r>
            <a:r>
              <a:rPr lang="en" sz="1400">
                <a:solidFill>
                  <a:srgbClr val="E6DB74"/>
                </a:solidFill>
                <a:highlight>
                  <a:srgbClr val="272822"/>
                </a:highlight>
                <a:latin typeface="Courier New"/>
                <a:ea typeface="Courier New"/>
                <a:cs typeface="Courier New"/>
                <a:sym typeface="Courier New"/>
              </a:rPr>
              <a:t>""</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clear</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both</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display</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table</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88846F"/>
                </a:solidFill>
                <a:highlight>
                  <a:srgbClr val="272822"/>
                </a:highlight>
                <a:latin typeface="Courier New"/>
                <a:ea typeface="Courier New"/>
                <a:cs typeface="Courier New"/>
                <a:sym typeface="Courier New"/>
              </a:rPr>
              <a:t>/* for all classes with col- */</a:t>
            </a:r>
            <a:endParaRPr sz="14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a:t>
            </a:r>
            <a:r>
              <a:rPr lang="en" sz="1400">
                <a:solidFill>
                  <a:srgbClr val="A6E22E"/>
                </a:solidFill>
                <a:highlight>
                  <a:srgbClr val="272822"/>
                </a:highlight>
                <a:latin typeface="Courier New"/>
                <a:ea typeface="Courier New"/>
                <a:cs typeface="Courier New"/>
                <a:sym typeface="Courier New"/>
              </a:rPr>
              <a:t>class</a:t>
            </a:r>
            <a:r>
              <a:rPr lang="en" sz="1400">
                <a:solidFill>
                  <a:srgbClr val="F92672"/>
                </a:solidFill>
                <a:highlight>
                  <a:srgbClr val="272822"/>
                </a:highlight>
                <a:latin typeface="Courier New"/>
                <a:ea typeface="Courier New"/>
                <a:cs typeface="Courier New"/>
                <a:sym typeface="Courier New"/>
              </a:rPr>
              <a:t>*=</a:t>
            </a:r>
            <a:r>
              <a:rPr lang="en" sz="1400">
                <a:solidFill>
                  <a:srgbClr val="E6DB74"/>
                </a:solidFill>
                <a:highlight>
                  <a:srgbClr val="272822"/>
                </a:highlight>
                <a:latin typeface="Courier New"/>
                <a:ea typeface="Courier New"/>
                <a:cs typeface="Courier New"/>
                <a:sym typeface="Courier New"/>
              </a:rPr>
              <a:t>"col-"</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float</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left</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padding</a:t>
            </a:r>
            <a:r>
              <a:rPr lang="en" sz="1400">
                <a:solidFill>
                  <a:srgbClr val="F8F8F2"/>
                </a:solidFill>
                <a:highlight>
                  <a:srgbClr val="272822"/>
                </a:highlight>
                <a:latin typeface="Courier New"/>
                <a:ea typeface="Courier New"/>
                <a:cs typeface="Courier New"/>
                <a:sym typeface="Courier New"/>
              </a:rPr>
              <a:t>: </a:t>
            </a:r>
            <a:r>
              <a:rPr lang="en" sz="1400">
                <a:solidFill>
                  <a:srgbClr val="AE81FF"/>
                </a:solidFill>
                <a:highlight>
                  <a:srgbClr val="272822"/>
                </a:highlight>
                <a:latin typeface="Courier New"/>
                <a:ea typeface="Courier New"/>
                <a:cs typeface="Courier New"/>
                <a:sym typeface="Courier New"/>
              </a:rPr>
              <a:t>15</a:t>
            </a:r>
            <a:r>
              <a:rPr lang="en" sz="1400">
                <a:solidFill>
                  <a:srgbClr val="F92672"/>
                </a:solidFill>
                <a:highlight>
                  <a:srgbClr val="272822"/>
                </a:highlight>
                <a:latin typeface="Courier New"/>
                <a:ea typeface="Courier New"/>
                <a:cs typeface="Courier New"/>
                <a:sym typeface="Courier New"/>
              </a:rPr>
              <a:t>px</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92672"/>
                </a:solidFill>
                <a:highlight>
                  <a:srgbClr val="272822"/>
                </a:highlight>
                <a:latin typeface="Courier New"/>
                <a:ea typeface="Courier New"/>
                <a:cs typeface="Courier New"/>
                <a:sym typeface="Courier New"/>
              </a:rPr>
              <a:t>html</a:t>
            </a:r>
            <a:r>
              <a:rPr lang="en" sz="1400">
                <a:solidFill>
                  <a:srgbClr val="F8F8F2"/>
                </a:solidFill>
                <a:highlight>
                  <a:srgbClr val="272822"/>
                </a:highlight>
                <a:latin typeface="Courier New"/>
                <a:ea typeface="Courier New"/>
                <a:cs typeface="Courier New"/>
                <a:sym typeface="Courier New"/>
              </a:rPr>
              <a:t> {</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   </a:t>
            </a:r>
            <a:r>
              <a:rPr i="1" lang="en" sz="1400">
                <a:solidFill>
                  <a:srgbClr val="66D9EF"/>
                </a:solidFill>
                <a:highlight>
                  <a:srgbClr val="272822"/>
                </a:highlight>
                <a:latin typeface="Courier New"/>
                <a:ea typeface="Courier New"/>
                <a:cs typeface="Courier New"/>
                <a:sym typeface="Courier New"/>
              </a:rPr>
              <a:t>font-family</a:t>
            </a:r>
            <a:r>
              <a:rPr lang="en" sz="1400">
                <a:solidFill>
                  <a:srgbClr val="F8F8F2"/>
                </a:solidFill>
                <a:highlight>
                  <a:srgbClr val="272822"/>
                </a:highlight>
                <a:latin typeface="Courier New"/>
                <a:ea typeface="Courier New"/>
                <a:cs typeface="Courier New"/>
                <a:sym typeface="Courier New"/>
              </a:rPr>
              <a:t>: </a:t>
            </a:r>
            <a:r>
              <a:rPr lang="en" sz="1400">
                <a:solidFill>
                  <a:srgbClr val="E6DB74"/>
                </a:solidFill>
                <a:highlight>
                  <a:srgbClr val="272822"/>
                </a:highlight>
                <a:latin typeface="Courier New"/>
                <a:ea typeface="Courier New"/>
                <a:cs typeface="Courier New"/>
                <a:sym typeface="Courier New"/>
              </a:rPr>
              <a:t>"Lucida Sans"</a:t>
            </a:r>
            <a:r>
              <a:rPr lang="en" sz="1400">
                <a:solidFill>
                  <a:srgbClr val="F8F8F2"/>
                </a:solidFill>
                <a:highlight>
                  <a:srgbClr val="272822"/>
                </a:highlight>
                <a:latin typeface="Courier New"/>
                <a:ea typeface="Courier New"/>
                <a:cs typeface="Courier New"/>
                <a:sym typeface="Courier New"/>
              </a:rPr>
              <a:t>, </a:t>
            </a:r>
            <a:r>
              <a:rPr lang="en" sz="1400">
                <a:solidFill>
                  <a:srgbClr val="66D9EF"/>
                </a:solidFill>
                <a:highlight>
                  <a:srgbClr val="272822"/>
                </a:highlight>
                <a:latin typeface="Courier New"/>
                <a:ea typeface="Courier New"/>
                <a:cs typeface="Courier New"/>
                <a:sym typeface="Courier New"/>
              </a:rPr>
              <a:t>sans-serif</a:t>
            </a:r>
            <a:r>
              <a:rPr lang="en" sz="1400">
                <a:solidFill>
                  <a:srgbClr val="F8F8F2"/>
                </a:solidFill>
                <a:highlight>
                  <a:srgbClr val="272822"/>
                </a:highlight>
                <a:latin typeface="Courier New"/>
                <a:ea typeface="Courier New"/>
                <a:cs typeface="Courier New"/>
                <a:sym typeface="Courier New"/>
              </a:rPr>
              <a:t>;</a:t>
            </a:r>
            <a:endParaRPr sz="14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400">
                <a:solidFill>
                  <a:srgbClr val="F8F8F2"/>
                </a:solidFill>
                <a:highlight>
                  <a:srgbClr val="272822"/>
                </a:highlight>
                <a:latin typeface="Courier New"/>
                <a:ea typeface="Courier New"/>
                <a:cs typeface="Courier New"/>
                <a:sym typeface="Courier New"/>
              </a:rPr>
              <a:t>}</a:t>
            </a:r>
            <a:endParaRPr sz="23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idx="1" type="body"/>
          </p:nvPr>
        </p:nvSpPr>
        <p:spPr>
          <a:xfrm>
            <a:off x="72625" y="66025"/>
            <a:ext cx="9019200" cy="49455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300">
                <a:solidFill>
                  <a:srgbClr val="A6E22E"/>
                </a:solidFill>
                <a:highlight>
                  <a:srgbClr val="272822"/>
                </a:highlight>
                <a:latin typeface="Courier New"/>
                <a:ea typeface="Courier New"/>
                <a:cs typeface="Courier New"/>
                <a:sym typeface="Courier New"/>
              </a:rPr>
              <a:t>.main</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text-align</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justify</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A6E22E"/>
                </a:solidFill>
                <a:highlight>
                  <a:srgbClr val="272822"/>
                </a:highlight>
                <a:latin typeface="Courier New"/>
                <a:ea typeface="Courier New"/>
                <a:cs typeface="Courier New"/>
                <a:sym typeface="Courier New"/>
              </a:rPr>
              <a:t>.header</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background-color</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black</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color</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white</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padding</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15</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A6E22E"/>
                </a:solidFill>
                <a:highlight>
                  <a:srgbClr val="272822"/>
                </a:highlight>
                <a:latin typeface="Courier New"/>
                <a:ea typeface="Courier New"/>
                <a:cs typeface="Courier New"/>
                <a:sym typeface="Courier New"/>
              </a:rPr>
              <a:t>.menu</a:t>
            </a:r>
            <a:r>
              <a:rPr lang="en" sz="1300">
                <a:solidFill>
                  <a:srgbClr val="F8F8F2"/>
                </a:solidFill>
                <a:highlight>
                  <a:srgbClr val="272822"/>
                </a:highlight>
                <a:latin typeface="Courier New"/>
                <a:ea typeface="Courier New"/>
                <a:cs typeface="Courier New"/>
                <a:sym typeface="Courier New"/>
              </a:rPr>
              <a:t> </a:t>
            </a:r>
            <a:r>
              <a:rPr lang="en" sz="1300">
                <a:solidFill>
                  <a:srgbClr val="F92672"/>
                </a:solidFill>
                <a:highlight>
                  <a:srgbClr val="272822"/>
                </a:highlight>
                <a:latin typeface="Courier New"/>
                <a:ea typeface="Courier New"/>
                <a:cs typeface="Courier New"/>
                <a:sym typeface="Courier New"/>
              </a:rPr>
              <a:t>ul</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list-style-type</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none</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margin</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padding</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A6E22E"/>
                </a:solidFill>
                <a:highlight>
                  <a:srgbClr val="272822"/>
                </a:highlight>
                <a:latin typeface="Courier New"/>
                <a:ea typeface="Courier New"/>
                <a:cs typeface="Courier New"/>
                <a:sym typeface="Courier New"/>
              </a:rPr>
              <a:t>.menu</a:t>
            </a:r>
            <a:r>
              <a:rPr lang="en" sz="1300">
                <a:solidFill>
                  <a:srgbClr val="F8F8F2"/>
                </a:solidFill>
                <a:highlight>
                  <a:srgbClr val="272822"/>
                </a:highlight>
                <a:latin typeface="Courier New"/>
                <a:ea typeface="Courier New"/>
                <a:cs typeface="Courier New"/>
                <a:sym typeface="Courier New"/>
              </a:rPr>
              <a:t> </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padding</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8</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margin-bottom</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7</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background-color</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#33B5E5</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color</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white</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a:t>
            </a:r>
            <a:r>
              <a:rPr i="1" lang="en" sz="1300">
                <a:solidFill>
                  <a:srgbClr val="66D9EF"/>
                </a:solidFill>
                <a:highlight>
                  <a:srgbClr val="272822"/>
                </a:highlight>
                <a:latin typeface="Courier New"/>
                <a:ea typeface="Courier New"/>
                <a:cs typeface="Courier New"/>
                <a:sym typeface="Courier New"/>
              </a:rPr>
              <a:t>box-shadow</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3</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rgba</a:t>
            </a:r>
            <a:r>
              <a:rPr lang="en" sz="1300">
                <a:solidFill>
                  <a:srgbClr val="F8F8F2"/>
                </a:solidFill>
                <a:highlight>
                  <a:srgbClr val="272822"/>
                </a:highlight>
                <a:latin typeface="Courier New"/>
                <a:ea typeface="Courier New"/>
                <a:cs typeface="Courier New"/>
                <a:sym typeface="Courier New"/>
              </a:rPr>
              <a:t>(</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0.12</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1</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2</a:t>
            </a:r>
            <a:r>
              <a:rPr lang="en" sz="1300">
                <a:solidFill>
                  <a:srgbClr val="F92672"/>
                </a:solidFill>
                <a:highlight>
                  <a:srgbClr val="272822"/>
                </a:highlight>
                <a:latin typeface="Courier New"/>
                <a:ea typeface="Courier New"/>
                <a:cs typeface="Courier New"/>
                <a:sym typeface="Courier New"/>
              </a:rPr>
              <a:t>px</a:t>
            </a:r>
            <a:r>
              <a:rPr lang="en" sz="1300">
                <a:solidFill>
                  <a:srgbClr val="F8F8F2"/>
                </a:solidFill>
                <a:highlight>
                  <a:srgbClr val="272822"/>
                </a:highlight>
                <a:latin typeface="Courier New"/>
                <a:ea typeface="Courier New"/>
                <a:cs typeface="Courier New"/>
                <a:sym typeface="Courier New"/>
              </a:rPr>
              <a:t> </a:t>
            </a:r>
            <a:r>
              <a:rPr lang="en" sz="1300">
                <a:solidFill>
                  <a:srgbClr val="66D9EF"/>
                </a:solidFill>
                <a:highlight>
                  <a:srgbClr val="272822"/>
                </a:highlight>
                <a:latin typeface="Courier New"/>
                <a:ea typeface="Courier New"/>
                <a:cs typeface="Courier New"/>
                <a:sym typeface="Courier New"/>
              </a:rPr>
              <a:t>rgba</a:t>
            </a:r>
            <a:r>
              <a:rPr lang="en" sz="1300">
                <a:solidFill>
                  <a:srgbClr val="F8F8F2"/>
                </a:solidFill>
                <a:highlight>
                  <a:srgbClr val="272822"/>
                </a:highlight>
                <a:latin typeface="Courier New"/>
                <a:ea typeface="Courier New"/>
                <a:cs typeface="Courier New"/>
                <a:sym typeface="Courier New"/>
              </a:rPr>
              <a:t>(</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a:t>
            </a:r>
            <a:r>
              <a:rPr lang="en" sz="1300">
                <a:solidFill>
                  <a:srgbClr val="F8F8F2"/>
                </a:solidFill>
                <a:highlight>
                  <a:srgbClr val="272822"/>
                </a:highlight>
                <a:latin typeface="Courier New"/>
                <a:ea typeface="Courier New"/>
                <a:cs typeface="Courier New"/>
                <a:sym typeface="Courier New"/>
              </a:rPr>
              <a:t>, </a:t>
            </a:r>
            <a:r>
              <a:rPr lang="en" sz="1300">
                <a:solidFill>
                  <a:srgbClr val="AE81FF"/>
                </a:solidFill>
                <a:highlight>
                  <a:srgbClr val="272822"/>
                </a:highlight>
                <a:latin typeface="Courier New"/>
                <a:ea typeface="Courier New"/>
                <a:cs typeface="Courier New"/>
                <a:sym typeface="Courier New"/>
              </a:rPr>
              <a:t>0.24</a:t>
            </a:r>
            <a:r>
              <a:rPr lang="en" sz="1300">
                <a:solidFill>
                  <a:srgbClr val="F8F8F2"/>
                </a:solidFill>
                <a:highlight>
                  <a:srgbClr val="272822"/>
                </a:highlight>
                <a:latin typeface="Courier New"/>
                <a:ea typeface="Courier New"/>
                <a:cs typeface="Courier New"/>
                <a:sym typeface="Courier New"/>
              </a:rPr>
              <a: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a:t>
            </a:r>
            <a:endParaRPr sz="2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idx="1" type="body"/>
          </p:nvPr>
        </p:nvSpPr>
        <p:spPr>
          <a:xfrm>
            <a:off x="72625" y="33025"/>
            <a:ext cx="9019200" cy="49785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500">
                <a:solidFill>
                  <a:srgbClr val="A6E22E"/>
                </a:solidFill>
                <a:highlight>
                  <a:srgbClr val="272822"/>
                </a:highlight>
                <a:latin typeface="Courier New"/>
                <a:ea typeface="Courier New"/>
                <a:cs typeface="Courier New"/>
                <a:sym typeface="Courier New"/>
              </a:rPr>
              <a:t>.menu</a:t>
            </a:r>
            <a:r>
              <a:rPr lang="en" sz="1500">
                <a:solidFill>
                  <a:srgbClr val="F8F8F2"/>
                </a:solidFill>
                <a:highlight>
                  <a:srgbClr val="272822"/>
                </a:highlight>
                <a:latin typeface="Courier New"/>
                <a:ea typeface="Courier New"/>
                <a:cs typeface="Courier New"/>
                <a:sym typeface="Courier New"/>
              </a:rPr>
              <a:t> </a:t>
            </a:r>
            <a:r>
              <a:rPr lang="en" sz="1500">
                <a:solidFill>
                  <a:srgbClr val="F92672"/>
                </a:solidFill>
                <a:highlight>
                  <a:srgbClr val="272822"/>
                </a:highlight>
                <a:latin typeface="Courier New"/>
                <a:ea typeface="Courier New"/>
                <a:cs typeface="Courier New"/>
                <a:sym typeface="Courier New"/>
              </a:rPr>
              <a:t>li</a:t>
            </a:r>
            <a:r>
              <a:rPr lang="en" sz="1500">
                <a:solidFill>
                  <a:srgbClr val="A6E22E"/>
                </a:solidFill>
                <a:highlight>
                  <a:srgbClr val="272822"/>
                </a:highlight>
                <a:latin typeface="Courier New"/>
                <a:ea typeface="Courier New"/>
                <a:cs typeface="Courier New"/>
                <a:sym typeface="Courier New"/>
              </a:rPr>
              <a:t>:hover</a:t>
            </a:r>
            <a:r>
              <a:rPr lang="en" sz="1500">
                <a:solidFill>
                  <a:srgbClr val="F8F8F2"/>
                </a:solidFill>
                <a:highlight>
                  <a:srgbClr val="272822"/>
                </a:highlight>
                <a:latin typeface="Courier New"/>
                <a:ea typeface="Courier New"/>
                <a:cs typeface="Courier New"/>
                <a:sym typeface="Courier New"/>
              </a:rPr>
              <a:t>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background-color</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#0099CC</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A6E22E"/>
                </a:solidFill>
                <a:highlight>
                  <a:srgbClr val="272822"/>
                </a:highlight>
                <a:latin typeface="Courier New"/>
                <a:ea typeface="Courier New"/>
                <a:cs typeface="Courier New"/>
                <a:sym typeface="Courier New"/>
              </a:rPr>
              <a:t>.aside</a:t>
            </a:r>
            <a:r>
              <a:rPr lang="en" sz="1500">
                <a:solidFill>
                  <a:srgbClr val="F8F8F2"/>
                </a:solidFill>
                <a:highlight>
                  <a:srgbClr val="272822"/>
                </a:highlight>
                <a:latin typeface="Courier New"/>
                <a:ea typeface="Courier New"/>
                <a:cs typeface="Courier New"/>
                <a:sym typeface="Courier New"/>
              </a:rPr>
              <a:t>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background-color</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#33B5E5</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padding</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15</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color</a:t>
            </a:r>
            <a:r>
              <a:rPr lang="en" sz="1500">
                <a:solidFill>
                  <a:srgbClr val="F8F8F2"/>
                </a:solidFill>
                <a:highlight>
                  <a:srgbClr val="272822"/>
                </a:highlight>
                <a:latin typeface="Courier New"/>
                <a:ea typeface="Courier New"/>
                <a:cs typeface="Courier New"/>
                <a:sym typeface="Courier New"/>
              </a:rPr>
              <a:t>: </a:t>
            </a:r>
            <a:r>
              <a:rPr lang="en" sz="1500">
                <a:solidFill>
                  <a:srgbClr val="66D9EF"/>
                </a:solidFill>
                <a:highlight>
                  <a:srgbClr val="272822"/>
                </a:highlight>
                <a:latin typeface="Courier New"/>
                <a:ea typeface="Courier New"/>
                <a:cs typeface="Courier New"/>
                <a:sym typeface="Courier New"/>
              </a:rPr>
              <a:t>white</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text-align</a:t>
            </a:r>
            <a:r>
              <a:rPr lang="en" sz="1500">
                <a:solidFill>
                  <a:srgbClr val="F8F8F2"/>
                </a:solidFill>
                <a:highlight>
                  <a:srgbClr val="272822"/>
                </a:highlight>
                <a:latin typeface="Courier New"/>
                <a:ea typeface="Courier New"/>
                <a:cs typeface="Courier New"/>
                <a:sym typeface="Courier New"/>
              </a:rPr>
              <a:t>: </a:t>
            </a:r>
            <a:r>
              <a:rPr lang="en" sz="1500">
                <a:solidFill>
                  <a:srgbClr val="66D9EF"/>
                </a:solidFill>
                <a:highlight>
                  <a:srgbClr val="272822"/>
                </a:highlight>
                <a:latin typeface="Courier New"/>
                <a:ea typeface="Courier New"/>
                <a:cs typeface="Courier New"/>
                <a:sym typeface="Courier New"/>
              </a:rPr>
              <a:t>center</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font-size</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14</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box-shadow</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3</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 </a:t>
            </a:r>
            <a:r>
              <a:rPr lang="en" sz="1500">
                <a:solidFill>
                  <a:srgbClr val="66D9EF"/>
                </a:solidFill>
                <a:highlight>
                  <a:srgbClr val="272822"/>
                </a:highlight>
                <a:latin typeface="Courier New"/>
                <a:ea typeface="Courier New"/>
                <a:cs typeface="Courier New"/>
                <a:sym typeface="Courier New"/>
              </a:rPr>
              <a:t>rgba</a:t>
            </a:r>
            <a:r>
              <a:rPr lang="en" sz="1500">
                <a:solidFill>
                  <a:srgbClr val="F8F8F2"/>
                </a:solidFill>
                <a:highlight>
                  <a:srgbClr val="272822"/>
                </a:highlight>
                <a:latin typeface="Courier New"/>
                <a:ea typeface="Courier New"/>
                <a:cs typeface="Courier New"/>
                <a:sym typeface="Courier New"/>
              </a:rPr>
              <a:t>(</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0.12</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2</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 </a:t>
            </a:r>
            <a:r>
              <a:rPr lang="en" sz="1500">
                <a:solidFill>
                  <a:srgbClr val="66D9EF"/>
                </a:solidFill>
                <a:highlight>
                  <a:srgbClr val="272822"/>
                </a:highlight>
                <a:latin typeface="Courier New"/>
                <a:ea typeface="Courier New"/>
                <a:cs typeface="Courier New"/>
                <a:sym typeface="Courier New"/>
              </a:rPr>
              <a:t>rgba</a:t>
            </a:r>
            <a:r>
              <a:rPr lang="en" sz="1500">
                <a:solidFill>
                  <a:srgbClr val="F8F8F2"/>
                </a:solidFill>
                <a:highlight>
                  <a:srgbClr val="272822"/>
                </a:highlight>
                <a:latin typeface="Courier New"/>
                <a:ea typeface="Courier New"/>
                <a:cs typeface="Courier New"/>
                <a:sym typeface="Courier New"/>
              </a:rPr>
              <a:t>(</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0.24</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A6E22E"/>
                </a:solidFill>
                <a:highlight>
                  <a:srgbClr val="272822"/>
                </a:highlight>
                <a:latin typeface="Courier New"/>
                <a:ea typeface="Courier New"/>
                <a:cs typeface="Courier New"/>
                <a:sym typeface="Courier New"/>
              </a:rPr>
              <a:t>.footer</a:t>
            </a:r>
            <a:r>
              <a:rPr lang="en" sz="1500">
                <a:solidFill>
                  <a:srgbClr val="F8F8F2"/>
                </a:solidFill>
                <a:highlight>
                  <a:srgbClr val="272822"/>
                </a:highlight>
                <a:latin typeface="Courier New"/>
                <a:ea typeface="Courier New"/>
                <a:cs typeface="Courier New"/>
                <a:sym typeface="Courier New"/>
              </a:rPr>
              <a:t>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background-color</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#0099CC</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color</a:t>
            </a:r>
            <a:r>
              <a:rPr lang="en" sz="1500">
                <a:solidFill>
                  <a:srgbClr val="F8F8F2"/>
                </a:solidFill>
                <a:highlight>
                  <a:srgbClr val="272822"/>
                </a:highlight>
                <a:latin typeface="Courier New"/>
                <a:ea typeface="Courier New"/>
                <a:cs typeface="Courier New"/>
                <a:sym typeface="Courier New"/>
              </a:rPr>
              <a:t>: </a:t>
            </a:r>
            <a:r>
              <a:rPr lang="en" sz="1500">
                <a:solidFill>
                  <a:srgbClr val="66D9EF"/>
                </a:solidFill>
                <a:highlight>
                  <a:srgbClr val="272822"/>
                </a:highlight>
                <a:latin typeface="Courier New"/>
                <a:ea typeface="Courier New"/>
                <a:cs typeface="Courier New"/>
                <a:sym typeface="Courier New"/>
              </a:rPr>
              <a:t>white</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text-align</a:t>
            </a:r>
            <a:r>
              <a:rPr lang="en" sz="1500">
                <a:solidFill>
                  <a:srgbClr val="F8F8F2"/>
                </a:solidFill>
                <a:highlight>
                  <a:srgbClr val="272822"/>
                </a:highlight>
                <a:latin typeface="Courier New"/>
                <a:ea typeface="Courier New"/>
                <a:cs typeface="Courier New"/>
                <a:sym typeface="Courier New"/>
              </a:rPr>
              <a:t>: </a:t>
            </a:r>
            <a:r>
              <a:rPr lang="en" sz="1500">
                <a:solidFill>
                  <a:srgbClr val="66D9EF"/>
                </a:solidFill>
                <a:highlight>
                  <a:srgbClr val="272822"/>
                </a:highlight>
                <a:latin typeface="Courier New"/>
                <a:ea typeface="Courier New"/>
                <a:cs typeface="Courier New"/>
                <a:sym typeface="Courier New"/>
              </a:rPr>
              <a:t>center</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font-size</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12</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padding</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15</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idx="1" type="body"/>
          </p:nvPr>
        </p:nvSpPr>
        <p:spPr>
          <a:xfrm>
            <a:off x="72625" y="39625"/>
            <a:ext cx="9019200" cy="49719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500">
                <a:solidFill>
                  <a:srgbClr val="88846F"/>
                </a:solidFill>
                <a:highlight>
                  <a:srgbClr val="272822"/>
                </a:highlight>
                <a:latin typeface="Courier New"/>
                <a:ea typeface="Courier New"/>
                <a:cs typeface="Courier New"/>
                <a:sym typeface="Courier New"/>
              </a:rPr>
              <a:t>/* mobile first */</a:t>
            </a:r>
            <a:endParaRPr sz="15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a:t>
            </a:r>
            <a:r>
              <a:rPr lang="en" sz="1500">
                <a:solidFill>
                  <a:srgbClr val="A6E22E"/>
                </a:solidFill>
                <a:highlight>
                  <a:srgbClr val="272822"/>
                </a:highlight>
                <a:latin typeface="Courier New"/>
                <a:ea typeface="Courier New"/>
                <a:cs typeface="Courier New"/>
                <a:sym typeface="Courier New"/>
              </a:rPr>
              <a:t>class</a:t>
            </a:r>
            <a:r>
              <a:rPr lang="en" sz="1500">
                <a:solidFill>
                  <a:srgbClr val="F9267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"col-"</a:t>
            </a:r>
            <a:r>
              <a:rPr lang="en" sz="1500">
                <a:solidFill>
                  <a:srgbClr val="F8F8F2"/>
                </a:solidFill>
                <a:highlight>
                  <a:srgbClr val="272822"/>
                </a:highlight>
                <a:latin typeface="Courier New"/>
                <a:ea typeface="Courier New"/>
                <a:cs typeface="Courier New"/>
                <a:sym typeface="Courier New"/>
              </a:rPr>
              <a:t>]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100</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88846F"/>
                </a:solidFill>
                <a:highlight>
                  <a:srgbClr val="272822"/>
                </a:highlight>
                <a:latin typeface="Courier New"/>
                <a:ea typeface="Courier New"/>
                <a:cs typeface="Courier New"/>
                <a:sym typeface="Courier New"/>
              </a:rPr>
              <a:t>/* for tablets */</a:t>
            </a:r>
            <a:endParaRPr sz="1500">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92672"/>
                </a:solidFill>
                <a:highlight>
                  <a:srgbClr val="272822"/>
                </a:highlight>
                <a:latin typeface="Courier New"/>
                <a:ea typeface="Courier New"/>
                <a:cs typeface="Courier New"/>
                <a:sym typeface="Courier New"/>
              </a:rPr>
              <a:t>@media</a:t>
            </a:r>
            <a:r>
              <a:rPr lang="en" sz="1500">
                <a:solidFill>
                  <a:srgbClr val="F8F8F2"/>
                </a:solidFill>
                <a:highlight>
                  <a:srgbClr val="272822"/>
                </a:highlight>
                <a:latin typeface="Courier New"/>
                <a:ea typeface="Courier New"/>
                <a:cs typeface="Courier New"/>
                <a:sym typeface="Courier New"/>
              </a:rPr>
              <a:t> </a:t>
            </a:r>
            <a:r>
              <a:rPr lang="en" sz="1500">
                <a:solidFill>
                  <a:srgbClr val="F92672"/>
                </a:solidFill>
                <a:highlight>
                  <a:srgbClr val="272822"/>
                </a:highlight>
                <a:latin typeface="Courier New"/>
                <a:ea typeface="Courier New"/>
                <a:cs typeface="Courier New"/>
                <a:sym typeface="Courier New"/>
              </a:rPr>
              <a:t>only</a:t>
            </a:r>
            <a:r>
              <a:rPr lang="en" sz="1500">
                <a:solidFill>
                  <a:srgbClr val="F8F8F2"/>
                </a:solidFill>
                <a:highlight>
                  <a:srgbClr val="272822"/>
                </a:highlight>
                <a:latin typeface="Courier New"/>
                <a:ea typeface="Courier New"/>
                <a:cs typeface="Courier New"/>
                <a:sym typeface="Courier New"/>
              </a:rPr>
              <a:t> </a:t>
            </a:r>
            <a:r>
              <a:rPr lang="en" sz="1500">
                <a:solidFill>
                  <a:srgbClr val="66D9EF"/>
                </a:solidFill>
                <a:highlight>
                  <a:srgbClr val="272822"/>
                </a:highlight>
                <a:latin typeface="Courier New"/>
                <a:ea typeface="Courier New"/>
                <a:cs typeface="Courier New"/>
                <a:sym typeface="Courier New"/>
              </a:rPr>
              <a:t>screen</a:t>
            </a:r>
            <a:r>
              <a:rPr lang="en" sz="1500">
                <a:solidFill>
                  <a:srgbClr val="F8F8F2"/>
                </a:solidFill>
                <a:highlight>
                  <a:srgbClr val="272822"/>
                </a:highlight>
                <a:latin typeface="Courier New"/>
                <a:ea typeface="Courier New"/>
                <a:cs typeface="Courier New"/>
                <a:sym typeface="Courier New"/>
              </a:rPr>
              <a:t> </a:t>
            </a:r>
            <a:r>
              <a:rPr lang="en" sz="1500">
                <a:solidFill>
                  <a:srgbClr val="F92672"/>
                </a:solidFill>
                <a:highlight>
                  <a:srgbClr val="272822"/>
                </a:highlight>
                <a:latin typeface="Courier New"/>
                <a:ea typeface="Courier New"/>
                <a:cs typeface="Courier New"/>
                <a:sym typeface="Courier New"/>
              </a:rPr>
              <a:t>and</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min-width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600</a:t>
            </a:r>
            <a:r>
              <a:rPr lang="en" sz="1500">
                <a:solidFill>
                  <a:srgbClr val="F92672"/>
                </a:solidFill>
                <a:highlight>
                  <a:srgbClr val="272822"/>
                </a:highlight>
                <a:latin typeface="Courier New"/>
                <a:ea typeface="Courier New"/>
                <a:cs typeface="Courier New"/>
                <a:sym typeface="Courier New"/>
              </a:rPr>
              <a:t>px</a:t>
            </a:r>
            <a:r>
              <a:rPr lang="en" sz="1500">
                <a:solidFill>
                  <a:srgbClr val="F8F8F2"/>
                </a:solidFill>
                <a:highlight>
                  <a:srgbClr val="272822"/>
                </a:highlight>
                <a:latin typeface="Courier New"/>
                <a:ea typeface="Courier New"/>
                <a:cs typeface="Courier New"/>
                <a:sym typeface="Courier New"/>
              </a:rPr>
              <a:t>) {</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.col-s-1</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8.33</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.col-s-2</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16.66</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.col-s-3</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25</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.col-s-4</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33.33</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.col-s-5</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41.66</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.col-s-6</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50</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.col-s-7</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58.33</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.col-s-8</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66.66</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.col-s-9</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75</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.col-s-10</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83.33</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.col-s-11</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91.66</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.col-s-12</a:t>
            </a:r>
            <a:r>
              <a:rPr lang="en" sz="1500">
                <a:solidFill>
                  <a:srgbClr val="F8F8F2"/>
                </a:solidFill>
                <a:highlight>
                  <a:srgbClr val="272822"/>
                </a:highlight>
                <a:latin typeface="Courier New"/>
                <a:ea typeface="Courier New"/>
                <a:cs typeface="Courier New"/>
                <a:sym typeface="Courier New"/>
              </a:rPr>
              <a:t> {</a:t>
            </a:r>
            <a:r>
              <a:rPr i="1" lang="en" sz="1500">
                <a:solidFill>
                  <a:srgbClr val="66D9EF"/>
                </a:solidFill>
                <a:highlight>
                  <a:srgbClr val="272822"/>
                </a:highlight>
                <a:latin typeface="Courier New"/>
                <a:ea typeface="Courier New"/>
                <a:cs typeface="Courier New"/>
                <a:sym typeface="Courier New"/>
              </a:rPr>
              <a:t>width</a:t>
            </a:r>
            <a:r>
              <a:rPr lang="en" sz="1500">
                <a:solidFill>
                  <a:srgbClr val="F8F8F2"/>
                </a:solidFill>
                <a:highlight>
                  <a:srgbClr val="272822"/>
                </a:highlight>
                <a:latin typeface="Courier New"/>
                <a:ea typeface="Courier New"/>
                <a:cs typeface="Courier New"/>
                <a:sym typeface="Courier New"/>
              </a:rPr>
              <a:t>: </a:t>
            </a:r>
            <a:r>
              <a:rPr lang="en" sz="1500">
                <a:solidFill>
                  <a:srgbClr val="AE81FF"/>
                </a:solidFill>
                <a:highlight>
                  <a:srgbClr val="272822"/>
                </a:highlight>
                <a:latin typeface="Courier New"/>
                <a:ea typeface="Courier New"/>
                <a:cs typeface="Courier New"/>
                <a:sym typeface="Courier New"/>
              </a:rPr>
              <a:t>100</a:t>
            </a:r>
            <a:r>
              <a:rPr lang="en" sz="1500">
                <a:solidFill>
                  <a:srgbClr val="F92672"/>
                </a:solidFill>
                <a:highlight>
                  <a:srgbClr val="272822"/>
                </a:highlight>
                <a:latin typeface="Courier New"/>
                <a:ea typeface="Courier New"/>
                <a:cs typeface="Courier New"/>
                <a:sym typeface="Courier New"/>
              </a:rPr>
              <a:t>%</a:t>
            </a:r>
            <a:r>
              <a:rPr lang="en" sz="1500">
                <a:solidFill>
                  <a:srgbClr val="F8F8F2"/>
                </a:solidFill>
                <a:highlight>
                  <a:srgbClr val="272822"/>
                </a:highlight>
                <a:latin typeface="Courier New"/>
                <a:ea typeface="Courier New"/>
                <a:cs typeface="Courier New"/>
                <a:sym typeface="Courier New"/>
              </a:rPr>
              <a: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a:t>
            </a:r>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idx="1" type="body"/>
          </p:nvPr>
        </p:nvSpPr>
        <p:spPr>
          <a:xfrm>
            <a:off x="72625" y="99050"/>
            <a:ext cx="9019200" cy="49125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a:solidFill>
                  <a:srgbClr val="88846F"/>
                </a:solidFill>
                <a:highlight>
                  <a:srgbClr val="272822"/>
                </a:highlight>
                <a:latin typeface="Courier New"/>
                <a:ea typeface="Courier New"/>
                <a:cs typeface="Courier New"/>
                <a:sym typeface="Courier New"/>
              </a:rPr>
              <a:t>/* for desktops */</a:t>
            </a:r>
            <a:endParaRPr>
              <a:solidFill>
                <a:srgbClr val="88846F"/>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92672"/>
                </a:solidFill>
                <a:highlight>
                  <a:srgbClr val="272822"/>
                </a:highlight>
                <a:latin typeface="Courier New"/>
                <a:ea typeface="Courier New"/>
                <a:cs typeface="Courier New"/>
                <a:sym typeface="Courier New"/>
              </a:rPr>
              <a:t>@media</a:t>
            </a:r>
            <a:r>
              <a:rPr lang="en">
                <a:solidFill>
                  <a:srgbClr val="F8F8F2"/>
                </a:solidFill>
                <a:highlight>
                  <a:srgbClr val="272822"/>
                </a:highlight>
                <a:latin typeface="Courier New"/>
                <a:ea typeface="Courier New"/>
                <a:cs typeface="Courier New"/>
                <a:sym typeface="Courier New"/>
              </a:rPr>
              <a:t> </a:t>
            </a:r>
            <a:r>
              <a:rPr lang="en">
                <a:solidFill>
                  <a:srgbClr val="F92672"/>
                </a:solidFill>
                <a:highlight>
                  <a:srgbClr val="272822"/>
                </a:highlight>
                <a:latin typeface="Courier New"/>
                <a:ea typeface="Courier New"/>
                <a:cs typeface="Courier New"/>
                <a:sym typeface="Courier New"/>
              </a:rPr>
              <a:t>only</a:t>
            </a:r>
            <a:r>
              <a:rPr lang="en">
                <a:solidFill>
                  <a:srgbClr val="F8F8F2"/>
                </a:solidFill>
                <a:highlight>
                  <a:srgbClr val="272822"/>
                </a:highlight>
                <a:latin typeface="Courier New"/>
                <a:ea typeface="Courier New"/>
                <a:cs typeface="Courier New"/>
                <a:sym typeface="Courier New"/>
              </a:rPr>
              <a:t> </a:t>
            </a:r>
            <a:r>
              <a:rPr lang="en">
                <a:solidFill>
                  <a:srgbClr val="66D9EF"/>
                </a:solidFill>
                <a:highlight>
                  <a:srgbClr val="272822"/>
                </a:highlight>
                <a:latin typeface="Courier New"/>
                <a:ea typeface="Courier New"/>
                <a:cs typeface="Courier New"/>
                <a:sym typeface="Courier New"/>
              </a:rPr>
              <a:t>screen</a:t>
            </a:r>
            <a:r>
              <a:rPr lang="en">
                <a:solidFill>
                  <a:srgbClr val="F8F8F2"/>
                </a:solidFill>
                <a:highlight>
                  <a:srgbClr val="272822"/>
                </a:highlight>
                <a:latin typeface="Courier New"/>
                <a:ea typeface="Courier New"/>
                <a:cs typeface="Courier New"/>
                <a:sym typeface="Courier New"/>
              </a:rPr>
              <a:t> </a:t>
            </a:r>
            <a:r>
              <a:rPr lang="en">
                <a:solidFill>
                  <a:srgbClr val="F92672"/>
                </a:solidFill>
                <a:highlight>
                  <a:srgbClr val="272822"/>
                </a:highlight>
                <a:latin typeface="Courier New"/>
                <a:ea typeface="Courier New"/>
                <a:cs typeface="Courier New"/>
                <a:sym typeface="Courier New"/>
              </a:rPr>
              <a:t>and</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min-width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768</a:t>
            </a:r>
            <a:r>
              <a:rPr lang="en">
                <a:solidFill>
                  <a:srgbClr val="F92672"/>
                </a:solidFill>
                <a:highlight>
                  <a:srgbClr val="272822"/>
                </a:highlight>
                <a:latin typeface="Courier New"/>
                <a:ea typeface="Courier New"/>
                <a:cs typeface="Courier New"/>
                <a:sym typeface="Courier New"/>
              </a:rPr>
              <a:t>px</a:t>
            </a:r>
            <a:r>
              <a:rPr lang="en">
                <a:solidFill>
                  <a:srgbClr val="F8F8F2"/>
                </a:solidFill>
                <a:highlight>
                  <a:srgbClr val="272822"/>
                </a:highlight>
                <a:latin typeface="Courier New"/>
                <a:ea typeface="Courier New"/>
                <a:cs typeface="Courier New"/>
                <a:sym typeface="Courier New"/>
              </a:rPr>
              <a:t>) {</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.col-1</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8.33</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.col-2</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16.66</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.col-3</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25</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.col-4</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33.33</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.col-5</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41.66</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.col-6</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50</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.col-7</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58.33</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.col-8</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66.66</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.col-9</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75</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.col-10</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83.33</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.col-11</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91.66</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   </a:t>
            </a:r>
            <a:r>
              <a:rPr lang="en">
                <a:solidFill>
                  <a:srgbClr val="A6E22E"/>
                </a:solidFill>
                <a:highlight>
                  <a:srgbClr val="272822"/>
                </a:highlight>
                <a:latin typeface="Courier New"/>
                <a:ea typeface="Courier New"/>
                <a:cs typeface="Courier New"/>
                <a:sym typeface="Courier New"/>
              </a:rPr>
              <a:t>.col-12</a:t>
            </a:r>
            <a:r>
              <a:rPr lang="en">
                <a:solidFill>
                  <a:srgbClr val="F8F8F2"/>
                </a:solidFill>
                <a:highlight>
                  <a:srgbClr val="272822"/>
                </a:highlight>
                <a:latin typeface="Courier New"/>
                <a:ea typeface="Courier New"/>
                <a:cs typeface="Courier New"/>
                <a:sym typeface="Courier New"/>
              </a:rPr>
              <a:t> {</a:t>
            </a:r>
            <a:r>
              <a:rPr i="1" lang="en">
                <a:solidFill>
                  <a:srgbClr val="66D9EF"/>
                </a:solidFill>
                <a:highlight>
                  <a:srgbClr val="272822"/>
                </a:highlight>
                <a:latin typeface="Courier New"/>
                <a:ea typeface="Courier New"/>
                <a:cs typeface="Courier New"/>
                <a:sym typeface="Courier New"/>
              </a:rPr>
              <a:t>width</a:t>
            </a:r>
            <a:r>
              <a:rPr lang="en">
                <a:solidFill>
                  <a:srgbClr val="F8F8F2"/>
                </a:solidFill>
                <a:highlight>
                  <a:srgbClr val="272822"/>
                </a:highlight>
                <a:latin typeface="Courier New"/>
                <a:ea typeface="Courier New"/>
                <a:cs typeface="Courier New"/>
                <a:sym typeface="Courier New"/>
              </a:rPr>
              <a:t>: </a:t>
            </a:r>
            <a:r>
              <a:rPr lang="en">
                <a:solidFill>
                  <a:srgbClr val="AE81FF"/>
                </a:solidFill>
                <a:highlight>
                  <a:srgbClr val="272822"/>
                </a:highlight>
                <a:latin typeface="Courier New"/>
                <a:ea typeface="Courier New"/>
                <a:cs typeface="Courier New"/>
                <a:sym typeface="Courier New"/>
              </a:rPr>
              <a:t>100</a:t>
            </a:r>
            <a:r>
              <a:rPr lang="en">
                <a:solidFill>
                  <a:srgbClr val="F92672"/>
                </a:solidFill>
                <a:highlight>
                  <a:srgbClr val="272822"/>
                </a:highlight>
                <a:latin typeface="Courier New"/>
                <a:ea typeface="Courier New"/>
                <a:cs typeface="Courier New"/>
                <a:sym typeface="Courier New"/>
              </a:rPr>
              <a:t>%</a:t>
            </a:r>
            <a:r>
              <a:rPr lang="en">
                <a:solidFill>
                  <a:srgbClr val="F8F8F2"/>
                </a:solidFill>
                <a:highlight>
                  <a:srgbClr val="272822"/>
                </a:highlight>
                <a:latin typeface="Courier New"/>
                <a:ea typeface="Courier New"/>
                <a:cs typeface="Courier New"/>
                <a:sym typeface="Courier New"/>
              </a:rPr>
              <a:t>;}</a:t>
            </a:r>
            <a:endParaRPr>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a:solidFill>
                  <a:srgbClr val="F8F8F2"/>
                </a:solidFill>
                <a:highlight>
                  <a:srgbClr val="272822"/>
                </a:highlight>
                <a:latin typeface="Courier New"/>
                <a:ea typeface="Courier New"/>
                <a:cs typeface="Courier New"/>
                <a:sym typeface="Courier New"/>
              </a:rPr>
              <a:t>}</a:t>
            </a:r>
            <a:endParaRPr sz="27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File: index.html</a:t>
            </a:r>
            <a:endParaRPr/>
          </a:p>
        </p:txBody>
      </p:sp>
      <p:sp>
        <p:nvSpPr>
          <p:cNvPr id="269" name="Google Shape;269;p35"/>
          <p:cNvSpPr txBox="1"/>
          <p:nvPr>
            <p:ph idx="1" type="body"/>
          </p:nvPr>
        </p:nvSpPr>
        <p:spPr>
          <a:xfrm>
            <a:off x="72625" y="633850"/>
            <a:ext cx="9019200" cy="43776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DOCTYPE</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html</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html</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lang</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"en"</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head</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meta</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charset</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"UTF-8"</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meta</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name</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"viewport"</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content</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"width=device-width, initial-scale=1.0"</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title</a:t>
            </a:r>
            <a:r>
              <a:rPr lang="en" sz="1500">
                <a:solidFill>
                  <a:srgbClr val="F8F8F2"/>
                </a:solidFill>
                <a:highlight>
                  <a:srgbClr val="272822"/>
                </a:highlight>
                <a:latin typeface="Courier New"/>
                <a:ea typeface="Courier New"/>
                <a:cs typeface="Courier New"/>
                <a:sym typeface="Courier New"/>
              </a:rPr>
              <a:t>&gt;Responsive Web Design&lt;/</a:t>
            </a:r>
            <a:r>
              <a:rPr lang="en" sz="1500">
                <a:solidFill>
                  <a:srgbClr val="F92672"/>
                </a:solidFill>
                <a:highlight>
                  <a:srgbClr val="272822"/>
                </a:highlight>
                <a:latin typeface="Courier New"/>
                <a:ea typeface="Courier New"/>
                <a:cs typeface="Courier New"/>
                <a:sym typeface="Courier New"/>
              </a:rPr>
              <a:t>title</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link</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href</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"style.css"</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rel</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"stylesheet"</a:t>
            </a:r>
            <a:r>
              <a:rPr lang="en" sz="1500">
                <a:solidFill>
                  <a:srgbClr val="F8F8F2"/>
                </a:solidFill>
                <a:highlight>
                  <a:srgbClr val="272822"/>
                </a:highlight>
                <a:latin typeface="Courier New"/>
                <a:ea typeface="Courier New"/>
                <a:cs typeface="Courier New"/>
                <a:sym typeface="Courier New"/>
              </a:rPr>
              <a:t>/&gt;</a:t>
            </a:r>
            <a:endParaRPr sz="1500">
              <a:solidFill>
                <a:srgbClr val="E6DB74"/>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44747"/>
                </a:solidFill>
                <a:highlight>
                  <a:srgbClr val="272822"/>
                </a:highlight>
                <a:latin typeface="Courier New"/>
                <a:ea typeface="Courier New"/>
                <a:cs typeface="Courier New"/>
                <a:sym typeface="Courier New"/>
              </a:rPr>
              <a:t>&lt;/head</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&lt;</a:t>
            </a:r>
            <a:r>
              <a:rPr lang="en" sz="1500">
                <a:solidFill>
                  <a:srgbClr val="F92672"/>
                </a:solidFill>
                <a:highlight>
                  <a:srgbClr val="272822"/>
                </a:highlight>
                <a:latin typeface="Courier New"/>
                <a:ea typeface="Courier New"/>
                <a:cs typeface="Courier New"/>
                <a:sym typeface="Courier New"/>
              </a:rPr>
              <a:t>body</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div</a:t>
            </a:r>
            <a:r>
              <a:rPr lang="en" sz="1500">
                <a:solidFill>
                  <a:srgbClr val="F8F8F2"/>
                </a:solidFill>
                <a:highlight>
                  <a:srgbClr val="272822"/>
                </a:highlight>
                <a:latin typeface="Courier New"/>
                <a:ea typeface="Courier New"/>
                <a:cs typeface="Courier New"/>
                <a:sym typeface="Courier New"/>
              </a:rPr>
              <a:t> </a:t>
            </a:r>
            <a:r>
              <a:rPr lang="en" sz="1500">
                <a:solidFill>
                  <a:srgbClr val="A6E22E"/>
                </a:solidFill>
                <a:highlight>
                  <a:srgbClr val="272822"/>
                </a:highlight>
                <a:latin typeface="Courier New"/>
                <a:ea typeface="Courier New"/>
                <a:cs typeface="Courier New"/>
                <a:sym typeface="Courier New"/>
              </a:rPr>
              <a:t>class</a:t>
            </a:r>
            <a:r>
              <a:rPr lang="en" sz="1500">
                <a:solidFill>
                  <a:srgbClr val="F8F8F2"/>
                </a:solidFill>
                <a:highlight>
                  <a:srgbClr val="272822"/>
                </a:highlight>
                <a:latin typeface="Courier New"/>
                <a:ea typeface="Courier New"/>
                <a:cs typeface="Courier New"/>
                <a:sym typeface="Courier New"/>
              </a:rPr>
              <a:t>=</a:t>
            </a:r>
            <a:r>
              <a:rPr lang="en" sz="1500">
                <a:solidFill>
                  <a:srgbClr val="E6DB74"/>
                </a:solidFill>
                <a:highlight>
                  <a:srgbClr val="272822"/>
                </a:highlight>
                <a:latin typeface="Courier New"/>
                <a:ea typeface="Courier New"/>
                <a:cs typeface="Courier New"/>
                <a:sym typeface="Courier New"/>
              </a:rPr>
              <a:t>"header"</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h1</a:t>
            </a:r>
            <a:r>
              <a:rPr lang="en" sz="1500">
                <a:solidFill>
                  <a:srgbClr val="F8F8F2"/>
                </a:solidFill>
                <a:highlight>
                  <a:srgbClr val="272822"/>
                </a:highlight>
                <a:latin typeface="Courier New"/>
                <a:ea typeface="Courier New"/>
                <a:cs typeface="Courier New"/>
                <a:sym typeface="Courier New"/>
              </a:rPr>
              <a:t>&gt;Faculty of Computing&lt;/</a:t>
            </a:r>
            <a:r>
              <a:rPr lang="en" sz="1500">
                <a:solidFill>
                  <a:srgbClr val="F92672"/>
                </a:solidFill>
                <a:highlight>
                  <a:srgbClr val="272822"/>
                </a:highlight>
                <a:latin typeface="Courier New"/>
                <a:ea typeface="Courier New"/>
                <a:cs typeface="Courier New"/>
                <a:sym typeface="Courier New"/>
              </a:rPr>
              <a:t>h1</a:t>
            </a:r>
            <a:r>
              <a:rPr lang="en" sz="1500">
                <a:solidFill>
                  <a:srgbClr val="F8F8F2"/>
                </a:solidFill>
                <a:highlight>
                  <a:srgbClr val="272822"/>
                </a:highlight>
                <a:latin typeface="Courier New"/>
                <a:ea typeface="Courier New"/>
                <a:cs typeface="Courier New"/>
                <a:sym typeface="Courier New"/>
              </a:rPr>
              <a:t>&gt;</a:t>
            </a:r>
            <a:endParaRPr sz="15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500">
                <a:solidFill>
                  <a:srgbClr val="F8F8F2"/>
                </a:solidFill>
                <a:highlight>
                  <a:srgbClr val="272822"/>
                </a:highlight>
                <a:latin typeface="Courier New"/>
                <a:ea typeface="Courier New"/>
                <a:cs typeface="Courier New"/>
                <a:sym typeface="Courier New"/>
              </a:rPr>
              <a:t>   &lt;/</a:t>
            </a:r>
            <a:r>
              <a:rPr lang="en" sz="1500">
                <a:solidFill>
                  <a:srgbClr val="F92672"/>
                </a:solidFill>
                <a:highlight>
                  <a:srgbClr val="272822"/>
                </a:highlight>
                <a:latin typeface="Courier New"/>
                <a:ea typeface="Courier New"/>
                <a:cs typeface="Courier New"/>
                <a:sym typeface="Courier New"/>
              </a:rPr>
              <a:t>div</a:t>
            </a:r>
            <a:r>
              <a:rPr lang="en" sz="1500">
                <a:solidFill>
                  <a:srgbClr val="F8F8F2"/>
                </a:solidFill>
                <a:highlight>
                  <a:srgbClr val="272822"/>
                </a:highlight>
                <a:latin typeface="Courier New"/>
                <a:ea typeface="Courier New"/>
                <a:cs typeface="Courier New"/>
                <a:sym typeface="Courier New"/>
              </a:rPr>
              <a:t>&gt;</a:t>
            </a:r>
            <a:endParaRPr sz="2100">
              <a:solidFill>
                <a:srgbClr val="F8F8F2"/>
              </a:solidFill>
              <a:highlight>
                <a:srgbClr val="272822"/>
              </a:highlight>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6"/>
          <p:cNvSpPr txBox="1"/>
          <p:nvPr>
            <p:ph idx="1" type="body"/>
          </p:nvPr>
        </p:nvSpPr>
        <p:spPr>
          <a:xfrm>
            <a:off x="72625" y="79225"/>
            <a:ext cx="9019200" cy="49323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"row"</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"col-3 col-s-3 menu"</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ul</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&gt;History&lt;/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&gt;Study Program&lt;/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&gt;Members&lt;/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&gt;Contact&lt;/</a:t>
            </a:r>
            <a:r>
              <a:rPr lang="en" sz="1300">
                <a:solidFill>
                  <a:srgbClr val="F92672"/>
                </a:solidFill>
                <a:highlight>
                  <a:srgbClr val="272822"/>
                </a:highlight>
                <a:latin typeface="Courier New"/>
                <a:ea typeface="Courier New"/>
                <a:cs typeface="Courier New"/>
                <a:sym typeface="Courier New"/>
              </a:rPr>
              <a:t>li</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ul</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"col-6 col-s-9 main"</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h1</a:t>
            </a:r>
            <a:r>
              <a:rPr lang="en" sz="1300">
                <a:solidFill>
                  <a:srgbClr val="F8F8F2"/>
                </a:solidFill>
                <a:highlight>
                  <a:srgbClr val="272822"/>
                </a:highlight>
                <a:latin typeface="Courier New"/>
                <a:ea typeface="Courier New"/>
                <a:cs typeface="Courier New"/>
                <a:sym typeface="Courier New"/>
              </a:rPr>
              <a:t>&gt;Computing&lt;/</a:t>
            </a:r>
            <a:r>
              <a:rPr lang="en" sz="1300">
                <a:solidFill>
                  <a:srgbClr val="F92672"/>
                </a:solidFill>
                <a:highlight>
                  <a:srgbClr val="272822"/>
                </a:highlight>
                <a:latin typeface="Courier New"/>
                <a:ea typeface="Courier New"/>
                <a:cs typeface="Courier New"/>
                <a:sym typeface="Courier New"/>
              </a:rPr>
              <a:t>h1</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&gt;The Faculty of Computing is one of the oldest faculties in President University. Informatics Engineering is also the first study program in the university. Earlier the faculty had two study programs: Informatics Engineering and Information System. By now, Visual Communication Design, Interior Design, and Master of Information Technology is added.&lt;/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idx="1" type="body"/>
          </p:nvPr>
        </p:nvSpPr>
        <p:spPr>
          <a:xfrm>
            <a:off x="72625" y="59425"/>
            <a:ext cx="9019200" cy="4952100"/>
          </a:xfrm>
          <a:prstGeom prst="rect">
            <a:avLst/>
          </a:prstGeom>
          <a:solidFill>
            <a:schemeClr val="dk1"/>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"col-3 col-s-12"</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"aside"</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h2</a:t>
            </a:r>
            <a:r>
              <a:rPr lang="en" sz="1300">
                <a:solidFill>
                  <a:srgbClr val="F8F8F2"/>
                </a:solidFill>
                <a:highlight>
                  <a:srgbClr val="272822"/>
                </a:highlight>
                <a:latin typeface="Courier New"/>
                <a:ea typeface="Courier New"/>
                <a:cs typeface="Courier New"/>
                <a:sym typeface="Courier New"/>
              </a:rPr>
              <a:t>&gt;Where?&lt;/</a:t>
            </a:r>
            <a:r>
              <a:rPr lang="en" sz="1300">
                <a:solidFill>
                  <a:srgbClr val="F92672"/>
                </a:solidFill>
                <a:highlight>
                  <a:srgbClr val="272822"/>
                </a:highlight>
                <a:latin typeface="Courier New"/>
                <a:ea typeface="Courier New"/>
                <a:cs typeface="Courier New"/>
                <a:sym typeface="Courier New"/>
              </a:rPr>
              <a:t>h2</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&gt;Faculty of Computing is located at Building A 3rd floor&lt;/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h2</a:t>
            </a:r>
            <a:r>
              <a:rPr lang="en" sz="1300">
                <a:solidFill>
                  <a:srgbClr val="F8F8F2"/>
                </a:solidFill>
                <a:highlight>
                  <a:srgbClr val="272822"/>
                </a:highlight>
                <a:latin typeface="Courier New"/>
                <a:ea typeface="Courier New"/>
                <a:cs typeface="Courier New"/>
                <a:sym typeface="Courier New"/>
              </a:rPr>
              <a:t>&gt;How?&lt;/</a:t>
            </a:r>
            <a:r>
              <a:rPr lang="en" sz="1300">
                <a:solidFill>
                  <a:srgbClr val="F92672"/>
                </a:solidFill>
                <a:highlight>
                  <a:srgbClr val="272822"/>
                </a:highlight>
                <a:latin typeface="Courier New"/>
                <a:ea typeface="Courier New"/>
                <a:cs typeface="Courier New"/>
                <a:sym typeface="Courier New"/>
              </a:rPr>
              <a:t>h2</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&gt;All subjects in the faculty are fun to learn&lt;/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h2</a:t>
            </a:r>
            <a:r>
              <a:rPr lang="en" sz="1300">
                <a:solidFill>
                  <a:srgbClr val="F8F8F2"/>
                </a:solidFill>
                <a:highlight>
                  <a:srgbClr val="272822"/>
                </a:highlight>
                <a:latin typeface="Courier New"/>
                <a:ea typeface="Courier New"/>
                <a:cs typeface="Courier New"/>
                <a:sym typeface="Courier New"/>
              </a:rPr>
              <a:t>&gt;Members&lt;/</a:t>
            </a:r>
            <a:r>
              <a:rPr lang="en" sz="1300">
                <a:solidFill>
                  <a:srgbClr val="F92672"/>
                </a:solidFill>
                <a:highlight>
                  <a:srgbClr val="272822"/>
                </a:highlight>
                <a:latin typeface="Courier New"/>
                <a:ea typeface="Courier New"/>
                <a:cs typeface="Courier New"/>
                <a:sym typeface="Courier New"/>
              </a:rPr>
              <a:t>h2</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&gt;Members of the faculty welcome all students&lt;/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 </a:t>
            </a:r>
            <a:r>
              <a:rPr lang="en" sz="1300">
                <a:solidFill>
                  <a:srgbClr val="A6E22E"/>
                </a:solidFill>
                <a:highlight>
                  <a:srgbClr val="272822"/>
                </a:highlight>
                <a:latin typeface="Courier New"/>
                <a:ea typeface="Courier New"/>
                <a:cs typeface="Courier New"/>
                <a:sym typeface="Courier New"/>
              </a:rPr>
              <a:t>class</a:t>
            </a:r>
            <a:r>
              <a:rPr lang="en" sz="1300">
                <a:solidFill>
                  <a:srgbClr val="F8F8F2"/>
                </a:solidFill>
                <a:highlight>
                  <a:srgbClr val="272822"/>
                </a:highlight>
                <a:latin typeface="Courier New"/>
                <a:ea typeface="Courier New"/>
                <a:cs typeface="Courier New"/>
                <a:sym typeface="Courier New"/>
              </a:rPr>
              <a:t>=</a:t>
            </a:r>
            <a:r>
              <a:rPr lang="en" sz="1300">
                <a:solidFill>
                  <a:srgbClr val="E6DB74"/>
                </a:solidFill>
                <a:highlight>
                  <a:srgbClr val="272822"/>
                </a:highlight>
                <a:latin typeface="Courier New"/>
                <a:ea typeface="Courier New"/>
                <a:cs typeface="Courier New"/>
                <a:sym typeface="Courier New"/>
              </a:rPr>
              <a:t>"footer"</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&gt;Resize the browser window to see how the content respond to the resizing.&lt;/</a:t>
            </a:r>
            <a:r>
              <a:rPr lang="en" sz="1300">
                <a:solidFill>
                  <a:srgbClr val="F92672"/>
                </a:solidFill>
                <a:highlight>
                  <a:srgbClr val="272822"/>
                </a:highlight>
                <a:latin typeface="Courier New"/>
                <a:ea typeface="Courier New"/>
                <a:cs typeface="Courier New"/>
                <a:sym typeface="Courier New"/>
              </a:rPr>
              <a:t>p</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   &lt;/</a:t>
            </a:r>
            <a:r>
              <a:rPr lang="en" sz="1300">
                <a:solidFill>
                  <a:srgbClr val="F92672"/>
                </a:solidFill>
                <a:highlight>
                  <a:srgbClr val="272822"/>
                </a:highlight>
                <a:latin typeface="Courier New"/>
                <a:ea typeface="Courier New"/>
                <a:cs typeface="Courier New"/>
                <a:sym typeface="Courier New"/>
              </a:rPr>
              <a:t>div</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body</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rPr lang="en" sz="1300">
                <a:solidFill>
                  <a:srgbClr val="F8F8F2"/>
                </a:solidFill>
                <a:highlight>
                  <a:srgbClr val="272822"/>
                </a:highlight>
                <a:latin typeface="Courier New"/>
                <a:ea typeface="Courier New"/>
                <a:cs typeface="Courier New"/>
                <a:sym typeface="Courier New"/>
              </a:rPr>
              <a:t>&lt;/</a:t>
            </a:r>
            <a:r>
              <a:rPr lang="en" sz="1300">
                <a:solidFill>
                  <a:srgbClr val="F92672"/>
                </a:solidFill>
                <a:highlight>
                  <a:srgbClr val="272822"/>
                </a:highlight>
                <a:latin typeface="Courier New"/>
                <a:ea typeface="Courier New"/>
                <a:cs typeface="Courier New"/>
                <a:sym typeface="Courier New"/>
              </a:rPr>
              <a:t>html</a:t>
            </a:r>
            <a:r>
              <a:rPr lang="en" sz="1300">
                <a:solidFill>
                  <a:srgbClr val="F8F8F2"/>
                </a:solidFill>
                <a:highlight>
                  <a:srgbClr val="272822"/>
                </a:highlight>
                <a:latin typeface="Courier New"/>
                <a:ea typeface="Courier New"/>
                <a:cs typeface="Courier New"/>
                <a:sym typeface="Courier New"/>
              </a:rPr>
              <a:t>&gt;</a:t>
            </a:r>
            <a:endParaRPr sz="1300">
              <a:solidFill>
                <a:srgbClr val="F8F8F2"/>
              </a:solidFill>
              <a:highlight>
                <a:srgbClr val="272822"/>
              </a:highlight>
              <a:latin typeface="Courier New"/>
              <a:ea typeface="Courier New"/>
              <a:cs typeface="Courier New"/>
              <a:sym typeface="Courier New"/>
            </a:endParaRPr>
          </a:p>
          <a:p>
            <a:pPr indent="0" lvl="0" marL="0" rtl="0" algn="l">
              <a:lnSpc>
                <a:spcPct val="100000"/>
              </a:lnSpc>
              <a:spcBef>
                <a:spcPts val="0"/>
              </a:spcBef>
              <a:spcAft>
                <a:spcPts val="0"/>
              </a:spcAft>
              <a:buSzPts val="1800"/>
              <a:buNone/>
            </a:pPr>
            <a:r>
              <a:t/>
            </a:r>
            <a:endParaRPr sz="1300">
              <a:solidFill>
                <a:srgbClr val="F8F8F2"/>
              </a:solidFill>
              <a:highlight>
                <a:srgbClr val="272822"/>
              </a:highlight>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Now try resizing the page</a:t>
            </a:r>
            <a:endParaRPr/>
          </a:p>
        </p:txBody>
      </p:sp>
      <p:sp>
        <p:nvSpPr>
          <p:cNvPr id="285" name="Google Shape;285;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The result will vary depending on the screen pixels</a:t>
            </a:r>
            <a:endParaRPr/>
          </a:p>
          <a:p>
            <a:pPr indent="-342900" lvl="0" marL="457200" rtl="0" algn="just">
              <a:lnSpc>
                <a:spcPct val="115000"/>
              </a:lnSpc>
              <a:spcBef>
                <a:spcPts val="0"/>
              </a:spcBef>
              <a:spcAft>
                <a:spcPts val="0"/>
              </a:spcAft>
              <a:buSzPts val="1800"/>
              <a:buChar char="-"/>
            </a:pPr>
            <a:r>
              <a:rPr lang="en"/>
              <a:t>This is not limited to only three devices, design on your needs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Real-World CSS</a:t>
            </a:r>
            <a:endParaRPr/>
          </a:p>
        </p:txBody>
      </p:sp>
      <p:sp>
        <p:nvSpPr>
          <p:cNvPr id="291" name="Google Shape;291;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AutoNum type="arabicPeriod"/>
            </a:pPr>
            <a:r>
              <a:rPr lang="en"/>
              <a:t>Bootstrap </a:t>
            </a:r>
            <a:r>
              <a:rPr lang="en" u="sng">
                <a:solidFill>
                  <a:schemeClr val="hlink"/>
                </a:solidFill>
                <a:hlinkClick r:id="rId3"/>
              </a:rPr>
              <a:t>https://getbootstrap.com/</a:t>
            </a:r>
            <a:r>
              <a:rPr lang="en"/>
              <a:t> </a:t>
            </a:r>
            <a:endParaRPr/>
          </a:p>
          <a:p>
            <a:pPr indent="-342900" lvl="0" marL="457200" rtl="0" algn="just">
              <a:lnSpc>
                <a:spcPct val="115000"/>
              </a:lnSpc>
              <a:spcBef>
                <a:spcPts val="0"/>
              </a:spcBef>
              <a:spcAft>
                <a:spcPts val="0"/>
              </a:spcAft>
              <a:buSzPts val="1800"/>
              <a:buAutoNum type="arabicPeriod"/>
            </a:pPr>
            <a:r>
              <a:rPr lang="en"/>
              <a:t>Uno CSS </a:t>
            </a:r>
            <a:r>
              <a:rPr lang="en" u="sng">
                <a:solidFill>
                  <a:schemeClr val="hlink"/>
                </a:solidFill>
                <a:hlinkClick r:id="rId4"/>
              </a:rPr>
              <a:t>https://unocss.dev/</a:t>
            </a:r>
            <a:r>
              <a:rPr lang="en"/>
              <a:t> </a:t>
            </a:r>
            <a:endParaRPr/>
          </a:p>
          <a:p>
            <a:pPr indent="-342900" lvl="0" marL="457200" rtl="0" algn="just">
              <a:lnSpc>
                <a:spcPct val="115000"/>
              </a:lnSpc>
              <a:spcBef>
                <a:spcPts val="0"/>
              </a:spcBef>
              <a:spcAft>
                <a:spcPts val="0"/>
              </a:spcAft>
              <a:buSzPts val="1800"/>
              <a:buAutoNum type="arabicPeriod"/>
            </a:pPr>
            <a:r>
              <a:rPr lang="en"/>
              <a:t>Tailwind CSS </a:t>
            </a:r>
            <a:r>
              <a:rPr lang="en" u="sng">
                <a:solidFill>
                  <a:schemeClr val="hlink"/>
                </a:solidFill>
                <a:hlinkClick r:id="rId5"/>
              </a:rPr>
              <a:t>https://tailwindcss.com/</a:t>
            </a:r>
            <a:r>
              <a:rPr lang="en"/>
              <a:t> </a:t>
            </a:r>
            <a:endParaRPr/>
          </a:p>
          <a:p>
            <a:pPr indent="-342900" lvl="0" marL="457200" rtl="0" algn="just">
              <a:lnSpc>
                <a:spcPct val="115000"/>
              </a:lnSpc>
              <a:spcBef>
                <a:spcPts val="0"/>
              </a:spcBef>
              <a:spcAft>
                <a:spcPts val="0"/>
              </a:spcAft>
              <a:buSzPts val="1800"/>
              <a:buAutoNum type="arabicPeriod"/>
            </a:pPr>
            <a:r>
              <a:rPr lang="en"/>
              <a:t>Pico CSS </a:t>
            </a:r>
            <a:r>
              <a:rPr lang="en" u="sng">
                <a:solidFill>
                  <a:schemeClr val="hlink"/>
                </a:solidFill>
                <a:hlinkClick r:id="rId6"/>
              </a:rPr>
              <a:t>https://picocss.com/</a:t>
            </a:r>
            <a:endParaRPr/>
          </a:p>
          <a:p>
            <a:pPr indent="-342900" lvl="0" marL="457200" rtl="0" algn="just">
              <a:lnSpc>
                <a:spcPct val="115000"/>
              </a:lnSpc>
              <a:spcBef>
                <a:spcPts val="0"/>
              </a:spcBef>
              <a:spcAft>
                <a:spcPts val="0"/>
              </a:spcAft>
              <a:buSzPts val="1800"/>
              <a:buAutoNum type="arabicPeriod"/>
            </a:pPr>
            <a:r>
              <a:rPr lang="en"/>
              <a:t>SASS </a:t>
            </a:r>
            <a:r>
              <a:rPr lang="en" u="sng">
                <a:solidFill>
                  <a:schemeClr val="hlink"/>
                </a:solidFill>
                <a:hlinkClick r:id="rId7"/>
              </a:rPr>
              <a:t>https://sass-lang.com/</a:t>
            </a:r>
            <a:endParaRPr/>
          </a:p>
          <a:p>
            <a:pPr indent="-342900" lvl="0" marL="457200" rtl="0" algn="just">
              <a:lnSpc>
                <a:spcPct val="115000"/>
              </a:lnSpc>
              <a:spcBef>
                <a:spcPts val="0"/>
              </a:spcBef>
              <a:spcAft>
                <a:spcPts val="0"/>
              </a:spcAft>
              <a:buSzPts val="1800"/>
              <a:buAutoNum type="arabicPeriod"/>
            </a:pPr>
            <a:r>
              <a:rPr lang="en"/>
              <a:t>LESS </a:t>
            </a:r>
            <a:r>
              <a:rPr lang="en" u="sng">
                <a:solidFill>
                  <a:schemeClr val="hlink"/>
                </a:solidFill>
                <a:hlinkClick r:id="rId8"/>
              </a:rPr>
              <a:t>https://lesscss.org/</a:t>
            </a:r>
            <a:endParaRPr/>
          </a:p>
          <a:p>
            <a:pPr indent="-342900" lvl="0" marL="457200" rtl="0" algn="just">
              <a:lnSpc>
                <a:spcPct val="115000"/>
              </a:lnSpc>
              <a:spcBef>
                <a:spcPts val="0"/>
              </a:spcBef>
              <a:spcAft>
                <a:spcPts val="0"/>
              </a:spcAft>
              <a:buSzPts val="1800"/>
              <a:buAutoNum type="arabicPeriod"/>
            </a:pPr>
            <a:r>
              <a:rPr lang="en"/>
              <a:t>W3CSS </a:t>
            </a:r>
            <a:r>
              <a:rPr lang="en" u="sng">
                <a:solidFill>
                  <a:schemeClr val="hlink"/>
                </a:solidFill>
                <a:hlinkClick r:id="rId9"/>
              </a:rPr>
              <a:t>https://www.w3schools.com/w3css/w3css_intro.asp</a:t>
            </a:r>
            <a:r>
              <a:rPr lang="en"/>
              <a:t> </a:t>
            </a:r>
            <a:endParaRPr/>
          </a:p>
          <a:p>
            <a:pPr indent="-342900" lvl="0" marL="457200" rtl="0" algn="just">
              <a:lnSpc>
                <a:spcPct val="115000"/>
              </a:lnSpc>
              <a:spcBef>
                <a:spcPts val="0"/>
              </a:spcBef>
              <a:spcAft>
                <a:spcPts val="0"/>
              </a:spcAft>
              <a:buSzPts val="1800"/>
              <a:buAutoNum type="arabicPeriod"/>
            </a:pPr>
            <a:r>
              <a:rPr lang="en"/>
              <a:t>etc</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References</a:t>
            </a:r>
            <a:endParaRPr/>
          </a:p>
        </p:txBody>
      </p:sp>
      <p:sp>
        <p:nvSpPr>
          <p:cNvPr id="297" name="Google Shape;297;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u="sng">
                <a:solidFill>
                  <a:schemeClr val="hlink"/>
                </a:solidFill>
                <a:hlinkClick r:id="rId3"/>
              </a:rPr>
              <a:t>https://www.w3schools.com/css/css_rwd_intro.asp</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